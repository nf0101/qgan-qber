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/>
  <p:notesSz cx="9144000" cy="51435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-1536" y="-84"/>
      </p:cViewPr>
      <p:guideLst>
        <p:guide pos="2880" orient="horz"/>
        <p:guide pos="2160"/>
      </p:guideLst>
    </p:cSldViewPr>
  </p:slide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theme" Target="theme/theme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handoutMasters/_rels/handout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204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23340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518160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E2D9D49E-49E5-0805-3830-26BA00F609DB}" type="datetimeFigureOut">
              <a:rPr lang="en-US"/>
              <a:t/>
            </a:fld>
            <a:endParaRPr/>
          </a:p>
        </p:txBody>
      </p:sp>
      <p:sp>
        <p:nvSpPr>
          <p:cNvPr id="407264628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3277304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18160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7627D016-9787-BBF2-C3FA-4506D96C5998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4447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155748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5181600" y="0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r">
              <a:defRPr sz="1200"/>
            </a:lvl1pPr>
          </a:lstStyle>
          <a:p>
            <a:pPr>
              <a:defRPr/>
            </a:pPr>
            <a:fld id="{D4C10AC5-BFD6-88C3-3744-14B84793CA35}" type="datetimeFigureOut">
              <a:rPr lang="en-US"/>
              <a:t/>
            </a:fld>
            <a:endParaRPr/>
          </a:p>
        </p:txBody>
      </p:sp>
      <p:sp>
        <p:nvSpPr>
          <p:cNvPr id="145321869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914399" y="2668190"/>
            <a:ext cx="7315200" cy="2025253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4601132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2698781" name="Slide Image Placeholder 3"/>
          <p:cNvSpPr>
            <a:spLocks noGrp="1"/>
          </p:cNvSpPr>
          <p:nvPr>
            <p:ph type="sldImg" sz="quarter" idx="2"/>
          </p:nvPr>
        </p:nvSpPr>
        <p:spPr bwMode="auto">
          <a:xfrm>
            <a:off x="3028950" y="642936"/>
            <a:ext cx="3086100" cy="1735931"/>
          </a:xfrm>
          <a:prstGeom prst="rect">
            <a:avLst/>
          </a:prstGeom>
          <a:ln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>
              <a:defRPr/>
            </a:pPr>
            <a:endParaRPr/>
          </a:p>
        </p:txBody>
      </p:sp>
      <p:sp>
        <p:nvSpPr>
          <p:cNvPr id="857442434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5181600" y="4885432"/>
            <a:ext cx="3962400" cy="25806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>
              <a:defRPr/>
            </a:pPr>
            <a:fld id="{2AC9CDB0-CADE-B3AB-7509-C66E7F076E3F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765179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8705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972117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F66A9EC-6972-56E2-DF5C-480E05DBEC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03470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71823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586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BE85347-7368-4993-8CB9-953191B531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81153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35055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645416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0495FCD-33B5-41CF-E57A-D4AF148979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656508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7276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80765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8F59C05-0AF3-0074-DEC0-E3C9713428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981330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6547392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340678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2238FC4-FC2D-AA13-6607-2924675DFA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984569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310039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3960447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97235FC-0556-0D57-EFFA-837282E158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318661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870403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351798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5136191-B137-6911-AA8F-27C20ECB349B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05712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25633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77992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16D32C3B-F6B0-F641-DB72-681755DEAC0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645452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987498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337664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476BD3F-8CB2-4326-8013-C70655E4E4FE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6539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076007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885445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5ACB596-04EA-BFB9-CD1F-A257B8A890B8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613375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72915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600812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3B62EB4-E0C3-B9CC-FCE2-B5E913833E7A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95077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999995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774751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BE30233-6304-D7FF-0355-8C4A060478FC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54343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935575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495552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E7DD1E3-DA7D-F232-2E00-88B874F85A2A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505407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100124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225763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DAB8986-89E9-8073-0AA6-403A40968E54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675124" name="Slide Image Placeholder 3"/>
          <p:cNvSpPr>
            <a:spLocks noGrp="1"/>
          </p:cNvSpPr>
          <p:nvPr>
            <p:ph type="sldImg" sz="quarter" idx="2"/>
          </p:nvPr>
        </p:nvSpPr>
        <p:spPr bwMode="auto">
          <a:prstGeom prst="rect">
            <a:avLst/>
          </a:prstGeom>
          <a:ln>
            <a:solidFill>
              <a:prstClr val="black"/>
            </a:solidFill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485526" name="Notes Placeholder 4"/>
          <p:cNvSpPr>
            <a:spLocks noGrp="1"/>
          </p:cNvSpPr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38749" name="Slide Number Placeholder 4"/>
          <p:cNvSpPr>
            <a:spLocks noGrp="1"/>
          </p:cNvSpPr>
          <p:nvPr>
            <p:ph type="sldNum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2CC089F-1023-F06D-CB83-8F973B8BB9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387638" name="Holder 2"/>
          <p:cNvSpPr>
            <a:spLocks noGrp="1"/>
          </p:cNvSpPr>
          <p:nvPr>
            <p:ph type="ctrTitle"/>
          </p:nvPr>
        </p:nvSpPr>
        <p:spPr bwMode="auto"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84848"/>
                </a:solidFill>
                <a:latin typeface="Century Gothic"/>
                <a:cs typeface="Century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5557554" name="Holder 3"/>
          <p:cNvSpPr>
            <a:spLocks noGrp="1"/>
          </p:cNvSpPr>
          <p:nvPr>
            <p:ph type="subTitle" idx="4"/>
          </p:nvPr>
        </p:nvSpPr>
        <p:spPr bwMode="auto"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11364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57142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41632865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518511" name="bg object 16"/>
          <p:cNvSpPr/>
          <p:nvPr/>
        </p:nvSpPr>
        <p:spPr bwMode="auto">
          <a:xfrm>
            <a:off x="8108950" y="501269"/>
            <a:ext cx="737870" cy="737870"/>
          </a:xfrm>
          <a:custGeom>
            <a:avLst/>
            <a:gdLst/>
            <a:ahLst/>
            <a:cxnLst/>
            <a:rect l="l" t="t" r="r" b="b"/>
            <a:pathLst>
              <a:path w="737870" h="737869" fill="norm" stroke="1" extrusionOk="0">
                <a:moveTo>
                  <a:pt x="737743" y="737742"/>
                </a:moveTo>
                <a:lnTo>
                  <a:pt x="0" y="0"/>
                </a:lnTo>
              </a:path>
            </a:pathLst>
          </a:custGeom>
          <a:ln w="9524">
            <a:solidFill>
              <a:srgbClr val="3C3C3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5617204" name="bg object 17"/>
          <p:cNvSpPr/>
          <p:nvPr/>
        </p:nvSpPr>
        <p:spPr bwMode="auto">
          <a:xfrm>
            <a:off x="0" y="274193"/>
            <a:ext cx="1795780" cy="654685"/>
          </a:xfrm>
          <a:custGeom>
            <a:avLst/>
            <a:gdLst/>
            <a:ahLst/>
            <a:cxnLst/>
            <a:rect l="l" t="t" r="r" b="b"/>
            <a:pathLst>
              <a:path w="1795780" h="654685" fill="norm" stroke="1" extrusionOk="0">
                <a:moveTo>
                  <a:pt x="582472" y="8001"/>
                </a:moveTo>
                <a:lnTo>
                  <a:pt x="1795399" y="430657"/>
                </a:lnTo>
              </a:path>
              <a:path w="1795780" h="654685" fill="norm" stroke="1" extrusionOk="0">
                <a:moveTo>
                  <a:pt x="0" y="654304"/>
                </a:moveTo>
                <a:lnTo>
                  <a:pt x="582599" y="0"/>
                </a:lnTo>
              </a:path>
            </a:pathLst>
          </a:custGeom>
          <a:ln w="9525">
            <a:solidFill>
              <a:srgbClr val="3C3C3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40062681" name="bg object 18"/>
          <p:cNvSpPr/>
          <p:nvPr/>
        </p:nvSpPr>
        <p:spPr bwMode="auto">
          <a:xfrm>
            <a:off x="428231" y="130428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 fill="norm" stroke="1" extrusionOk="0">
                <a:moveTo>
                  <a:pt x="141516" y="0"/>
                </a:moveTo>
                <a:lnTo>
                  <a:pt x="96625" y="7174"/>
                </a:lnTo>
                <a:lnTo>
                  <a:pt x="57758" y="27163"/>
                </a:lnTo>
                <a:lnTo>
                  <a:pt x="27184" y="57662"/>
                </a:lnTo>
                <a:lnTo>
                  <a:pt x="7174" y="96365"/>
                </a:lnTo>
                <a:lnTo>
                  <a:pt x="0" y="140970"/>
                </a:lnTo>
                <a:lnTo>
                  <a:pt x="7174" y="185822"/>
                </a:lnTo>
                <a:lnTo>
                  <a:pt x="27184" y="224676"/>
                </a:lnTo>
                <a:lnTo>
                  <a:pt x="57758" y="255251"/>
                </a:lnTo>
                <a:lnTo>
                  <a:pt x="96625" y="275268"/>
                </a:lnTo>
                <a:lnTo>
                  <a:pt x="141516" y="282448"/>
                </a:lnTo>
                <a:lnTo>
                  <a:pt x="186144" y="275268"/>
                </a:lnTo>
                <a:lnTo>
                  <a:pt x="224859" y="255251"/>
                </a:lnTo>
                <a:lnTo>
                  <a:pt x="255361" y="224676"/>
                </a:lnTo>
                <a:lnTo>
                  <a:pt x="275350" y="185822"/>
                </a:lnTo>
                <a:lnTo>
                  <a:pt x="282524" y="140970"/>
                </a:lnTo>
                <a:lnTo>
                  <a:pt x="275350" y="96365"/>
                </a:lnTo>
                <a:lnTo>
                  <a:pt x="255361" y="57662"/>
                </a:lnTo>
                <a:lnTo>
                  <a:pt x="224859" y="27163"/>
                </a:lnTo>
                <a:lnTo>
                  <a:pt x="186144" y="7174"/>
                </a:lnTo>
                <a:lnTo>
                  <a:pt x="1415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1087364" name="bg object 19"/>
          <p:cNvSpPr/>
          <p:nvPr/>
        </p:nvSpPr>
        <p:spPr bwMode="auto">
          <a:xfrm>
            <a:off x="423748" y="125348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4" fill="norm" stroke="1" extrusionOk="0">
                <a:moveTo>
                  <a:pt x="145999" y="0"/>
                </a:moveTo>
                <a:lnTo>
                  <a:pt x="99789" y="7483"/>
                </a:lnTo>
                <a:lnTo>
                  <a:pt x="59703" y="28293"/>
                </a:lnTo>
                <a:lnTo>
                  <a:pt x="28122" y="59966"/>
                </a:lnTo>
                <a:lnTo>
                  <a:pt x="7427" y="100039"/>
                </a:lnTo>
                <a:lnTo>
                  <a:pt x="0" y="146050"/>
                </a:lnTo>
                <a:lnTo>
                  <a:pt x="7427" y="192308"/>
                </a:lnTo>
                <a:lnTo>
                  <a:pt x="28122" y="232531"/>
                </a:lnTo>
                <a:lnTo>
                  <a:pt x="59703" y="264281"/>
                </a:lnTo>
                <a:lnTo>
                  <a:pt x="99789" y="285120"/>
                </a:lnTo>
                <a:lnTo>
                  <a:pt x="145999" y="292608"/>
                </a:lnTo>
                <a:lnTo>
                  <a:pt x="191999" y="285120"/>
                </a:lnTo>
                <a:lnTo>
                  <a:pt x="195915" y="283083"/>
                </a:lnTo>
                <a:lnTo>
                  <a:pt x="145999" y="283083"/>
                </a:lnTo>
                <a:lnTo>
                  <a:pt x="118400" y="280259"/>
                </a:lnTo>
                <a:lnTo>
                  <a:pt x="69452" y="259562"/>
                </a:lnTo>
                <a:lnTo>
                  <a:pt x="32432" y="222791"/>
                </a:lnTo>
                <a:lnTo>
                  <a:pt x="11748" y="173710"/>
                </a:lnTo>
                <a:lnTo>
                  <a:pt x="8928" y="146050"/>
                </a:lnTo>
                <a:lnTo>
                  <a:pt x="11748" y="118683"/>
                </a:lnTo>
                <a:lnTo>
                  <a:pt x="32432" y="69808"/>
                </a:lnTo>
                <a:lnTo>
                  <a:pt x="69452" y="32777"/>
                </a:lnTo>
                <a:lnTo>
                  <a:pt x="118400" y="12259"/>
                </a:lnTo>
                <a:lnTo>
                  <a:pt x="145999" y="9525"/>
                </a:lnTo>
                <a:lnTo>
                  <a:pt x="195928" y="9525"/>
                </a:lnTo>
                <a:lnTo>
                  <a:pt x="191999" y="7483"/>
                </a:lnTo>
                <a:lnTo>
                  <a:pt x="145999" y="0"/>
                </a:lnTo>
                <a:close/>
              </a:path>
              <a:path w="292100" h="292734" fill="norm" stroke="1" extrusionOk="0">
                <a:moveTo>
                  <a:pt x="195928" y="9525"/>
                </a:moveTo>
                <a:lnTo>
                  <a:pt x="145999" y="9525"/>
                </a:lnTo>
                <a:lnTo>
                  <a:pt x="173375" y="12259"/>
                </a:lnTo>
                <a:lnTo>
                  <a:pt x="199024" y="20161"/>
                </a:lnTo>
                <a:lnTo>
                  <a:pt x="242430" y="49656"/>
                </a:lnTo>
                <a:lnTo>
                  <a:pt x="271878" y="93043"/>
                </a:lnTo>
                <a:lnTo>
                  <a:pt x="282524" y="146050"/>
                </a:lnTo>
                <a:lnTo>
                  <a:pt x="279784" y="173710"/>
                </a:lnTo>
                <a:lnTo>
                  <a:pt x="259271" y="222791"/>
                </a:lnTo>
                <a:lnTo>
                  <a:pt x="222269" y="259562"/>
                </a:lnTo>
                <a:lnTo>
                  <a:pt x="173375" y="280259"/>
                </a:lnTo>
                <a:lnTo>
                  <a:pt x="145999" y="283083"/>
                </a:lnTo>
                <a:lnTo>
                  <a:pt x="195915" y="283083"/>
                </a:lnTo>
                <a:lnTo>
                  <a:pt x="232059" y="264281"/>
                </a:lnTo>
                <a:lnTo>
                  <a:pt x="263719" y="232531"/>
                </a:lnTo>
                <a:lnTo>
                  <a:pt x="284518" y="192308"/>
                </a:lnTo>
                <a:lnTo>
                  <a:pt x="291998" y="146050"/>
                </a:lnTo>
                <a:lnTo>
                  <a:pt x="284518" y="100039"/>
                </a:lnTo>
                <a:lnTo>
                  <a:pt x="263719" y="59966"/>
                </a:lnTo>
                <a:lnTo>
                  <a:pt x="232059" y="28293"/>
                </a:lnTo>
                <a:lnTo>
                  <a:pt x="195928" y="95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70699818" name="bg object 20"/>
          <p:cNvPicPr/>
          <p:nvPr/>
        </p:nvPicPr>
        <p:blipFill rotWithShape="1">
          <a:blip r:embed="rId2"/>
          <a:stretch/>
        </p:blipFill>
        <p:spPr bwMode="auto">
          <a:xfrm>
            <a:off x="485622" y="187832"/>
            <a:ext cx="167728" cy="167639"/>
          </a:xfrm>
          <a:prstGeom prst="rect">
            <a:avLst/>
          </a:prstGeom>
        </p:spPr>
      </p:pic>
      <p:sp>
        <p:nvSpPr>
          <p:cNvPr id="182419342" name="bg object 21"/>
          <p:cNvSpPr/>
          <p:nvPr/>
        </p:nvSpPr>
        <p:spPr bwMode="auto">
          <a:xfrm>
            <a:off x="1640967" y="560704"/>
            <a:ext cx="288924" cy="288290"/>
          </a:xfrm>
          <a:custGeom>
            <a:avLst/>
            <a:gdLst/>
            <a:ahLst/>
            <a:cxnLst/>
            <a:rect l="l" t="t" r="r" b="b"/>
            <a:pathLst>
              <a:path w="288925" h="288290" fill="norm" stroke="1" extrusionOk="0">
                <a:moveTo>
                  <a:pt x="144271" y="0"/>
                </a:moveTo>
                <a:lnTo>
                  <a:pt x="98690" y="7345"/>
                </a:lnTo>
                <a:lnTo>
                  <a:pt x="59088" y="27797"/>
                </a:lnTo>
                <a:lnTo>
                  <a:pt x="27850" y="58978"/>
                </a:lnTo>
                <a:lnTo>
                  <a:pt x="7359" y="98511"/>
                </a:lnTo>
                <a:lnTo>
                  <a:pt x="0" y="144018"/>
                </a:lnTo>
                <a:lnTo>
                  <a:pt x="7359" y="189648"/>
                </a:lnTo>
                <a:lnTo>
                  <a:pt x="27850" y="229256"/>
                </a:lnTo>
                <a:lnTo>
                  <a:pt x="59088" y="260475"/>
                </a:lnTo>
                <a:lnTo>
                  <a:pt x="98690" y="280942"/>
                </a:lnTo>
                <a:lnTo>
                  <a:pt x="144271" y="288290"/>
                </a:lnTo>
                <a:lnTo>
                  <a:pt x="189915" y="280942"/>
                </a:lnTo>
                <a:lnTo>
                  <a:pt x="229555" y="260475"/>
                </a:lnTo>
                <a:lnTo>
                  <a:pt x="260812" y="229256"/>
                </a:lnTo>
                <a:lnTo>
                  <a:pt x="281310" y="189648"/>
                </a:lnTo>
                <a:lnTo>
                  <a:pt x="288670" y="144018"/>
                </a:lnTo>
                <a:lnTo>
                  <a:pt x="281310" y="98511"/>
                </a:lnTo>
                <a:lnTo>
                  <a:pt x="260812" y="58978"/>
                </a:lnTo>
                <a:lnTo>
                  <a:pt x="229555" y="27797"/>
                </a:lnTo>
                <a:lnTo>
                  <a:pt x="189915" y="7345"/>
                </a:lnTo>
                <a:lnTo>
                  <a:pt x="144271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32115646" name="bg object 22"/>
          <p:cNvSpPr/>
          <p:nvPr/>
        </p:nvSpPr>
        <p:spPr bwMode="auto">
          <a:xfrm>
            <a:off x="1638680" y="558165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69" h="293369" fill="norm" stroke="1" extrusionOk="0">
                <a:moveTo>
                  <a:pt x="146557" y="0"/>
                </a:moveTo>
                <a:lnTo>
                  <a:pt x="100299" y="7475"/>
                </a:lnTo>
                <a:lnTo>
                  <a:pt x="60076" y="28289"/>
                </a:lnTo>
                <a:lnTo>
                  <a:pt x="28326" y="60021"/>
                </a:lnTo>
                <a:lnTo>
                  <a:pt x="7487" y="100250"/>
                </a:lnTo>
                <a:lnTo>
                  <a:pt x="0" y="146558"/>
                </a:lnTo>
                <a:lnTo>
                  <a:pt x="7487" y="192989"/>
                </a:lnTo>
                <a:lnTo>
                  <a:pt x="28326" y="233293"/>
                </a:lnTo>
                <a:lnTo>
                  <a:pt x="60076" y="265064"/>
                </a:lnTo>
                <a:lnTo>
                  <a:pt x="100299" y="285892"/>
                </a:lnTo>
                <a:lnTo>
                  <a:pt x="146557" y="293370"/>
                </a:lnTo>
                <a:lnTo>
                  <a:pt x="175657" y="288671"/>
                </a:lnTo>
                <a:lnTo>
                  <a:pt x="146557" y="288671"/>
                </a:lnTo>
                <a:lnTo>
                  <a:pt x="117935" y="285751"/>
                </a:lnTo>
                <a:lnTo>
                  <a:pt x="67262" y="264292"/>
                </a:lnTo>
                <a:lnTo>
                  <a:pt x="28989" y="225960"/>
                </a:lnTo>
                <a:lnTo>
                  <a:pt x="7689" y="175184"/>
                </a:lnTo>
                <a:lnTo>
                  <a:pt x="4825" y="146558"/>
                </a:lnTo>
                <a:lnTo>
                  <a:pt x="7689" y="118042"/>
                </a:lnTo>
                <a:lnTo>
                  <a:pt x="28989" y="67298"/>
                </a:lnTo>
                <a:lnTo>
                  <a:pt x="67262" y="28936"/>
                </a:lnTo>
                <a:lnTo>
                  <a:pt x="117935" y="7671"/>
                </a:lnTo>
                <a:lnTo>
                  <a:pt x="146557" y="4825"/>
                </a:lnTo>
                <a:lnTo>
                  <a:pt x="176451" y="4825"/>
                </a:lnTo>
                <a:lnTo>
                  <a:pt x="146557" y="0"/>
                </a:lnTo>
                <a:close/>
              </a:path>
              <a:path w="293369" h="293369" fill="norm" stroke="1" extrusionOk="0">
                <a:moveTo>
                  <a:pt x="176451" y="4825"/>
                </a:moveTo>
                <a:lnTo>
                  <a:pt x="146557" y="4825"/>
                </a:lnTo>
                <a:lnTo>
                  <a:pt x="175240" y="7671"/>
                </a:lnTo>
                <a:lnTo>
                  <a:pt x="201898" y="15875"/>
                </a:lnTo>
                <a:lnTo>
                  <a:pt x="247142" y="46355"/>
                </a:lnTo>
                <a:lnTo>
                  <a:pt x="277479" y="91408"/>
                </a:lnTo>
                <a:lnTo>
                  <a:pt x="288670" y="146558"/>
                </a:lnTo>
                <a:lnTo>
                  <a:pt x="285771" y="175184"/>
                </a:lnTo>
                <a:lnTo>
                  <a:pt x="264400" y="225960"/>
                </a:lnTo>
                <a:lnTo>
                  <a:pt x="226032" y="264292"/>
                </a:lnTo>
                <a:lnTo>
                  <a:pt x="175240" y="285751"/>
                </a:lnTo>
                <a:lnTo>
                  <a:pt x="146557" y="288671"/>
                </a:lnTo>
                <a:lnTo>
                  <a:pt x="175657" y="288671"/>
                </a:lnTo>
                <a:lnTo>
                  <a:pt x="233094" y="265064"/>
                </a:lnTo>
                <a:lnTo>
                  <a:pt x="264826" y="233293"/>
                </a:lnTo>
                <a:lnTo>
                  <a:pt x="285640" y="192989"/>
                </a:lnTo>
                <a:lnTo>
                  <a:pt x="293116" y="146558"/>
                </a:lnTo>
                <a:lnTo>
                  <a:pt x="285640" y="100250"/>
                </a:lnTo>
                <a:lnTo>
                  <a:pt x="264826" y="60021"/>
                </a:lnTo>
                <a:lnTo>
                  <a:pt x="233094" y="28289"/>
                </a:lnTo>
                <a:lnTo>
                  <a:pt x="192865" y="7475"/>
                </a:lnTo>
                <a:lnTo>
                  <a:pt x="176451" y="48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700412178" name="bg object 23"/>
          <p:cNvPicPr/>
          <p:nvPr/>
        </p:nvPicPr>
        <p:blipFill rotWithShape="1">
          <a:blip r:embed="rId3"/>
          <a:stretch/>
        </p:blipFill>
        <p:spPr bwMode="auto">
          <a:xfrm>
            <a:off x="1675257" y="594614"/>
            <a:ext cx="220091" cy="220472"/>
          </a:xfrm>
          <a:prstGeom prst="rect">
            <a:avLst/>
          </a:prstGeom>
        </p:spPr>
      </p:pic>
      <p:sp>
        <p:nvSpPr>
          <p:cNvPr id="1464572494" name="bg object 24"/>
          <p:cNvSpPr/>
          <p:nvPr/>
        </p:nvSpPr>
        <p:spPr bwMode="auto">
          <a:xfrm>
            <a:off x="8151368" y="11743"/>
            <a:ext cx="993140" cy="489584"/>
          </a:xfrm>
          <a:custGeom>
            <a:avLst/>
            <a:gdLst/>
            <a:ahLst/>
            <a:cxnLst/>
            <a:rect l="l" t="t" r="r" b="b"/>
            <a:pathLst>
              <a:path w="993140" h="489584" fill="norm" stroke="1" extrusionOk="0">
                <a:moveTo>
                  <a:pt x="992631" y="0"/>
                </a:moveTo>
                <a:lnTo>
                  <a:pt x="0" y="489525"/>
                </a:lnTo>
              </a:path>
            </a:pathLst>
          </a:custGeom>
          <a:ln w="9525">
            <a:solidFill>
              <a:srgbClr val="3C3C3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32060025" name="bg object 25"/>
          <p:cNvSpPr/>
          <p:nvPr/>
        </p:nvSpPr>
        <p:spPr bwMode="auto">
          <a:xfrm>
            <a:off x="7828661" y="215137"/>
            <a:ext cx="573405" cy="572770"/>
          </a:xfrm>
          <a:custGeom>
            <a:avLst/>
            <a:gdLst/>
            <a:ahLst/>
            <a:cxnLst/>
            <a:rect l="l" t="t" r="r" b="b"/>
            <a:pathLst>
              <a:path w="573404" h="572770" fill="norm" stroke="1" extrusionOk="0">
                <a:moveTo>
                  <a:pt x="286512" y="0"/>
                </a:moveTo>
                <a:lnTo>
                  <a:pt x="240036" y="3745"/>
                </a:lnTo>
                <a:lnTo>
                  <a:pt x="195949" y="14588"/>
                </a:lnTo>
                <a:lnTo>
                  <a:pt x="154840" y="31937"/>
                </a:lnTo>
                <a:lnTo>
                  <a:pt x="117299" y="55201"/>
                </a:lnTo>
                <a:lnTo>
                  <a:pt x="83915" y="83788"/>
                </a:lnTo>
                <a:lnTo>
                  <a:pt x="55278" y="117107"/>
                </a:lnTo>
                <a:lnTo>
                  <a:pt x="31978" y="154566"/>
                </a:lnTo>
                <a:lnTo>
                  <a:pt x="14606" y="195575"/>
                </a:lnTo>
                <a:lnTo>
                  <a:pt x="3749" y="239543"/>
                </a:lnTo>
                <a:lnTo>
                  <a:pt x="0" y="285876"/>
                </a:lnTo>
                <a:lnTo>
                  <a:pt x="3749" y="332348"/>
                </a:lnTo>
                <a:lnTo>
                  <a:pt x="14606" y="376425"/>
                </a:lnTo>
                <a:lnTo>
                  <a:pt x="31978" y="417520"/>
                </a:lnTo>
                <a:lnTo>
                  <a:pt x="55278" y="455045"/>
                </a:lnTo>
                <a:lnTo>
                  <a:pt x="83915" y="488410"/>
                </a:lnTo>
                <a:lnTo>
                  <a:pt x="117299" y="517028"/>
                </a:lnTo>
                <a:lnTo>
                  <a:pt x="154840" y="540310"/>
                </a:lnTo>
                <a:lnTo>
                  <a:pt x="195949" y="557669"/>
                </a:lnTo>
                <a:lnTo>
                  <a:pt x="240036" y="568515"/>
                </a:lnTo>
                <a:lnTo>
                  <a:pt x="286512" y="572262"/>
                </a:lnTo>
                <a:lnTo>
                  <a:pt x="332983" y="568515"/>
                </a:lnTo>
                <a:lnTo>
                  <a:pt x="377060" y="557669"/>
                </a:lnTo>
                <a:lnTo>
                  <a:pt x="418155" y="540310"/>
                </a:lnTo>
                <a:lnTo>
                  <a:pt x="455680" y="517028"/>
                </a:lnTo>
                <a:lnTo>
                  <a:pt x="489045" y="488410"/>
                </a:lnTo>
                <a:lnTo>
                  <a:pt x="517663" y="455045"/>
                </a:lnTo>
                <a:lnTo>
                  <a:pt x="540945" y="417520"/>
                </a:lnTo>
                <a:lnTo>
                  <a:pt x="558304" y="376425"/>
                </a:lnTo>
                <a:lnTo>
                  <a:pt x="569150" y="332348"/>
                </a:lnTo>
                <a:lnTo>
                  <a:pt x="572897" y="285876"/>
                </a:lnTo>
                <a:lnTo>
                  <a:pt x="569150" y="239543"/>
                </a:lnTo>
                <a:lnTo>
                  <a:pt x="558304" y="195575"/>
                </a:lnTo>
                <a:lnTo>
                  <a:pt x="540945" y="154566"/>
                </a:lnTo>
                <a:lnTo>
                  <a:pt x="517663" y="117107"/>
                </a:lnTo>
                <a:lnTo>
                  <a:pt x="489045" y="83788"/>
                </a:lnTo>
                <a:lnTo>
                  <a:pt x="455680" y="55201"/>
                </a:lnTo>
                <a:lnTo>
                  <a:pt x="418155" y="31937"/>
                </a:lnTo>
                <a:lnTo>
                  <a:pt x="377060" y="14588"/>
                </a:lnTo>
                <a:lnTo>
                  <a:pt x="332983" y="3745"/>
                </a:lnTo>
                <a:lnTo>
                  <a:pt x="286512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6291047" name="bg object 26"/>
          <p:cNvSpPr/>
          <p:nvPr/>
        </p:nvSpPr>
        <p:spPr bwMode="auto">
          <a:xfrm>
            <a:off x="7824216" y="210185"/>
            <a:ext cx="582295" cy="582295"/>
          </a:xfrm>
          <a:custGeom>
            <a:avLst/>
            <a:gdLst/>
            <a:ahLst/>
            <a:cxnLst/>
            <a:rect l="l" t="t" r="r" b="b"/>
            <a:pathLst>
              <a:path w="582295" h="582295" fill="norm" stroke="1" extrusionOk="0">
                <a:moveTo>
                  <a:pt x="290956" y="0"/>
                </a:moveTo>
                <a:lnTo>
                  <a:pt x="243801" y="3808"/>
                </a:lnTo>
                <a:lnTo>
                  <a:pt x="199054" y="14835"/>
                </a:lnTo>
                <a:lnTo>
                  <a:pt x="157317" y="32479"/>
                </a:lnTo>
                <a:lnTo>
                  <a:pt x="119192" y="56140"/>
                </a:lnTo>
                <a:lnTo>
                  <a:pt x="85280" y="85216"/>
                </a:lnTo>
                <a:lnTo>
                  <a:pt x="56184" y="119109"/>
                </a:lnTo>
                <a:lnTo>
                  <a:pt x="32506" y="157217"/>
                </a:lnTo>
                <a:lnTo>
                  <a:pt x="14848" y="198940"/>
                </a:lnTo>
                <a:lnTo>
                  <a:pt x="3812" y="243678"/>
                </a:lnTo>
                <a:lnTo>
                  <a:pt x="0" y="290829"/>
                </a:lnTo>
                <a:lnTo>
                  <a:pt x="3812" y="338122"/>
                </a:lnTo>
                <a:lnTo>
                  <a:pt x="14848" y="382980"/>
                </a:lnTo>
                <a:lnTo>
                  <a:pt x="32506" y="424803"/>
                </a:lnTo>
                <a:lnTo>
                  <a:pt x="56184" y="462993"/>
                </a:lnTo>
                <a:lnTo>
                  <a:pt x="85280" y="496950"/>
                </a:lnTo>
                <a:lnTo>
                  <a:pt x="119192" y="526077"/>
                </a:lnTo>
                <a:lnTo>
                  <a:pt x="157317" y="549774"/>
                </a:lnTo>
                <a:lnTo>
                  <a:pt x="199054" y="567442"/>
                </a:lnTo>
                <a:lnTo>
                  <a:pt x="243801" y="578481"/>
                </a:lnTo>
                <a:lnTo>
                  <a:pt x="290956" y="582294"/>
                </a:lnTo>
                <a:lnTo>
                  <a:pt x="338077" y="578481"/>
                </a:lnTo>
                <a:lnTo>
                  <a:pt x="361215" y="572769"/>
                </a:lnTo>
                <a:lnTo>
                  <a:pt x="290956" y="572769"/>
                </a:lnTo>
                <a:lnTo>
                  <a:pt x="234100" y="567017"/>
                </a:lnTo>
                <a:lnTo>
                  <a:pt x="181197" y="550560"/>
                </a:lnTo>
                <a:lnTo>
                  <a:pt x="133294" y="524603"/>
                </a:lnTo>
                <a:lnTo>
                  <a:pt x="91439" y="490347"/>
                </a:lnTo>
                <a:lnTo>
                  <a:pt x="57183" y="448492"/>
                </a:lnTo>
                <a:lnTo>
                  <a:pt x="31226" y="400589"/>
                </a:lnTo>
                <a:lnTo>
                  <a:pt x="14769" y="347686"/>
                </a:lnTo>
                <a:lnTo>
                  <a:pt x="9016" y="290829"/>
                </a:lnTo>
                <a:lnTo>
                  <a:pt x="14769" y="234197"/>
                </a:lnTo>
                <a:lnTo>
                  <a:pt x="31226" y="181340"/>
                </a:lnTo>
                <a:lnTo>
                  <a:pt x="57183" y="133506"/>
                </a:lnTo>
                <a:lnTo>
                  <a:pt x="91439" y="91948"/>
                </a:lnTo>
                <a:lnTo>
                  <a:pt x="133294" y="57404"/>
                </a:lnTo>
                <a:lnTo>
                  <a:pt x="181197" y="31432"/>
                </a:lnTo>
                <a:lnTo>
                  <a:pt x="234100" y="15081"/>
                </a:lnTo>
                <a:lnTo>
                  <a:pt x="290956" y="9398"/>
                </a:lnTo>
                <a:lnTo>
                  <a:pt x="360744" y="9398"/>
                </a:lnTo>
                <a:lnTo>
                  <a:pt x="338077" y="3808"/>
                </a:lnTo>
                <a:lnTo>
                  <a:pt x="290956" y="0"/>
                </a:lnTo>
                <a:close/>
              </a:path>
              <a:path w="582295" h="582295" fill="norm" stroke="1" extrusionOk="0">
                <a:moveTo>
                  <a:pt x="360744" y="9398"/>
                </a:moveTo>
                <a:lnTo>
                  <a:pt x="290956" y="9398"/>
                </a:lnTo>
                <a:lnTo>
                  <a:pt x="347803" y="15081"/>
                </a:lnTo>
                <a:lnTo>
                  <a:pt x="400637" y="31432"/>
                </a:lnTo>
                <a:lnTo>
                  <a:pt x="448351" y="57404"/>
                </a:lnTo>
                <a:lnTo>
                  <a:pt x="489838" y="91948"/>
                </a:lnTo>
                <a:lnTo>
                  <a:pt x="524382" y="133506"/>
                </a:lnTo>
                <a:lnTo>
                  <a:pt x="550354" y="181340"/>
                </a:lnTo>
                <a:lnTo>
                  <a:pt x="566705" y="234197"/>
                </a:lnTo>
                <a:lnTo>
                  <a:pt x="572388" y="290829"/>
                </a:lnTo>
                <a:lnTo>
                  <a:pt x="566705" y="347686"/>
                </a:lnTo>
                <a:lnTo>
                  <a:pt x="550354" y="400589"/>
                </a:lnTo>
                <a:lnTo>
                  <a:pt x="524382" y="448492"/>
                </a:lnTo>
                <a:lnTo>
                  <a:pt x="489838" y="490347"/>
                </a:lnTo>
                <a:lnTo>
                  <a:pt x="448351" y="524603"/>
                </a:lnTo>
                <a:lnTo>
                  <a:pt x="400637" y="550560"/>
                </a:lnTo>
                <a:lnTo>
                  <a:pt x="347803" y="567017"/>
                </a:lnTo>
                <a:lnTo>
                  <a:pt x="290956" y="572769"/>
                </a:lnTo>
                <a:lnTo>
                  <a:pt x="361215" y="572769"/>
                </a:lnTo>
                <a:lnTo>
                  <a:pt x="424513" y="549774"/>
                </a:lnTo>
                <a:lnTo>
                  <a:pt x="462622" y="526077"/>
                </a:lnTo>
                <a:lnTo>
                  <a:pt x="496522" y="496950"/>
                </a:lnTo>
                <a:lnTo>
                  <a:pt x="525610" y="462993"/>
                </a:lnTo>
                <a:lnTo>
                  <a:pt x="549283" y="424803"/>
                </a:lnTo>
                <a:lnTo>
                  <a:pt x="566939" y="382980"/>
                </a:lnTo>
                <a:lnTo>
                  <a:pt x="577974" y="338122"/>
                </a:lnTo>
                <a:lnTo>
                  <a:pt x="581786" y="290829"/>
                </a:lnTo>
                <a:lnTo>
                  <a:pt x="577974" y="243678"/>
                </a:lnTo>
                <a:lnTo>
                  <a:pt x="566939" y="198940"/>
                </a:lnTo>
                <a:lnTo>
                  <a:pt x="549283" y="157217"/>
                </a:lnTo>
                <a:lnTo>
                  <a:pt x="525610" y="119109"/>
                </a:lnTo>
                <a:lnTo>
                  <a:pt x="496522" y="85216"/>
                </a:lnTo>
                <a:lnTo>
                  <a:pt x="462622" y="56140"/>
                </a:lnTo>
                <a:lnTo>
                  <a:pt x="424513" y="32479"/>
                </a:lnTo>
                <a:lnTo>
                  <a:pt x="382797" y="14835"/>
                </a:lnTo>
                <a:lnTo>
                  <a:pt x="360744" y="9398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9188907" name="bg object 27"/>
          <p:cNvSpPr/>
          <p:nvPr/>
        </p:nvSpPr>
        <p:spPr bwMode="auto">
          <a:xfrm>
            <a:off x="7901178" y="287528"/>
            <a:ext cx="427990" cy="427990"/>
          </a:xfrm>
          <a:custGeom>
            <a:avLst/>
            <a:gdLst/>
            <a:ahLst/>
            <a:cxnLst/>
            <a:rect l="l" t="t" r="r" b="b"/>
            <a:pathLst>
              <a:path w="427990" h="427990" fill="norm" stroke="1" extrusionOk="0">
                <a:moveTo>
                  <a:pt x="213995" y="0"/>
                </a:moveTo>
                <a:lnTo>
                  <a:pt x="164951" y="5627"/>
                </a:lnTo>
                <a:lnTo>
                  <a:pt x="119918" y="21663"/>
                </a:lnTo>
                <a:lnTo>
                  <a:pt x="80184" y="46836"/>
                </a:lnTo>
                <a:lnTo>
                  <a:pt x="47036" y="79875"/>
                </a:lnTo>
                <a:lnTo>
                  <a:pt x="21764" y="119511"/>
                </a:lnTo>
                <a:lnTo>
                  <a:pt x="5655" y="164472"/>
                </a:lnTo>
                <a:lnTo>
                  <a:pt x="0" y="213487"/>
                </a:lnTo>
                <a:lnTo>
                  <a:pt x="5655" y="262530"/>
                </a:lnTo>
                <a:lnTo>
                  <a:pt x="21764" y="307563"/>
                </a:lnTo>
                <a:lnTo>
                  <a:pt x="47036" y="347297"/>
                </a:lnTo>
                <a:lnTo>
                  <a:pt x="80184" y="380445"/>
                </a:lnTo>
                <a:lnTo>
                  <a:pt x="119918" y="405717"/>
                </a:lnTo>
                <a:lnTo>
                  <a:pt x="164951" y="421826"/>
                </a:lnTo>
                <a:lnTo>
                  <a:pt x="213995" y="427482"/>
                </a:lnTo>
                <a:lnTo>
                  <a:pt x="263038" y="421826"/>
                </a:lnTo>
                <a:lnTo>
                  <a:pt x="308071" y="405717"/>
                </a:lnTo>
                <a:lnTo>
                  <a:pt x="347805" y="380445"/>
                </a:lnTo>
                <a:lnTo>
                  <a:pt x="380953" y="347297"/>
                </a:lnTo>
                <a:lnTo>
                  <a:pt x="406225" y="307563"/>
                </a:lnTo>
                <a:lnTo>
                  <a:pt x="422334" y="262530"/>
                </a:lnTo>
                <a:lnTo>
                  <a:pt x="427990" y="213487"/>
                </a:lnTo>
                <a:lnTo>
                  <a:pt x="422334" y="164472"/>
                </a:lnTo>
                <a:lnTo>
                  <a:pt x="406225" y="119511"/>
                </a:lnTo>
                <a:lnTo>
                  <a:pt x="380953" y="79875"/>
                </a:lnTo>
                <a:lnTo>
                  <a:pt x="347805" y="46836"/>
                </a:lnTo>
                <a:lnTo>
                  <a:pt x="308071" y="21663"/>
                </a:lnTo>
                <a:lnTo>
                  <a:pt x="263038" y="5627"/>
                </a:lnTo>
                <a:lnTo>
                  <a:pt x="213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857641" name="bg object 28"/>
          <p:cNvSpPr/>
          <p:nvPr/>
        </p:nvSpPr>
        <p:spPr bwMode="auto">
          <a:xfrm>
            <a:off x="7896733" y="282575"/>
            <a:ext cx="436880" cy="437515"/>
          </a:xfrm>
          <a:custGeom>
            <a:avLst/>
            <a:gdLst/>
            <a:ahLst/>
            <a:cxnLst/>
            <a:rect l="l" t="t" r="r" b="b"/>
            <a:pathLst>
              <a:path w="436879" h="437515" fill="norm" stroke="1" extrusionOk="0">
                <a:moveTo>
                  <a:pt x="218440" y="0"/>
                </a:moveTo>
                <a:lnTo>
                  <a:pt x="168270" y="5782"/>
                </a:lnTo>
                <a:lnTo>
                  <a:pt x="122260" y="22245"/>
                </a:lnTo>
                <a:lnTo>
                  <a:pt x="81706" y="48065"/>
                </a:lnTo>
                <a:lnTo>
                  <a:pt x="47906" y="81919"/>
                </a:lnTo>
                <a:lnTo>
                  <a:pt x="22156" y="122482"/>
                </a:lnTo>
                <a:lnTo>
                  <a:pt x="5755" y="168430"/>
                </a:lnTo>
                <a:lnTo>
                  <a:pt x="0" y="218439"/>
                </a:lnTo>
                <a:lnTo>
                  <a:pt x="5755" y="268637"/>
                </a:lnTo>
                <a:lnTo>
                  <a:pt x="22156" y="314720"/>
                </a:lnTo>
                <a:lnTo>
                  <a:pt x="47906" y="355373"/>
                </a:lnTo>
                <a:lnTo>
                  <a:pt x="81706" y="389282"/>
                </a:lnTo>
                <a:lnTo>
                  <a:pt x="122260" y="415130"/>
                </a:lnTo>
                <a:lnTo>
                  <a:pt x="168270" y="431604"/>
                </a:lnTo>
                <a:lnTo>
                  <a:pt x="218440" y="437388"/>
                </a:lnTo>
                <a:lnTo>
                  <a:pt x="268449" y="431604"/>
                </a:lnTo>
                <a:lnTo>
                  <a:pt x="278530" y="427989"/>
                </a:lnTo>
                <a:lnTo>
                  <a:pt x="218440" y="427989"/>
                </a:lnTo>
                <a:lnTo>
                  <a:pt x="176119" y="423727"/>
                </a:lnTo>
                <a:lnTo>
                  <a:pt x="136763" y="411511"/>
                </a:lnTo>
                <a:lnTo>
                  <a:pt x="101193" y="392199"/>
                </a:lnTo>
                <a:lnTo>
                  <a:pt x="70231" y="366649"/>
                </a:lnTo>
                <a:lnTo>
                  <a:pt x="44626" y="335668"/>
                </a:lnTo>
                <a:lnTo>
                  <a:pt x="25320" y="300069"/>
                </a:lnTo>
                <a:lnTo>
                  <a:pt x="13134" y="260707"/>
                </a:lnTo>
                <a:lnTo>
                  <a:pt x="8890" y="218439"/>
                </a:lnTo>
                <a:lnTo>
                  <a:pt x="13134" y="176484"/>
                </a:lnTo>
                <a:lnTo>
                  <a:pt x="25320" y="137302"/>
                </a:lnTo>
                <a:lnTo>
                  <a:pt x="44626" y="101764"/>
                </a:lnTo>
                <a:lnTo>
                  <a:pt x="70231" y="70738"/>
                </a:lnTo>
                <a:lnTo>
                  <a:pt x="101193" y="45188"/>
                </a:lnTo>
                <a:lnTo>
                  <a:pt x="136763" y="25876"/>
                </a:lnTo>
                <a:lnTo>
                  <a:pt x="176119" y="13660"/>
                </a:lnTo>
                <a:lnTo>
                  <a:pt x="218440" y="9398"/>
                </a:lnTo>
                <a:lnTo>
                  <a:pt x="278541" y="9398"/>
                </a:lnTo>
                <a:lnTo>
                  <a:pt x="268449" y="5782"/>
                </a:lnTo>
                <a:lnTo>
                  <a:pt x="218440" y="0"/>
                </a:lnTo>
                <a:close/>
              </a:path>
              <a:path w="436879" h="437515" fill="norm" stroke="1" extrusionOk="0">
                <a:moveTo>
                  <a:pt x="278541" y="9398"/>
                </a:moveTo>
                <a:lnTo>
                  <a:pt x="218440" y="9398"/>
                </a:lnTo>
                <a:lnTo>
                  <a:pt x="260609" y="13660"/>
                </a:lnTo>
                <a:lnTo>
                  <a:pt x="299767" y="25876"/>
                </a:lnTo>
                <a:lnTo>
                  <a:pt x="335186" y="45188"/>
                </a:lnTo>
                <a:lnTo>
                  <a:pt x="366141" y="70738"/>
                </a:lnTo>
                <a:lnTo>
                  <a:pt x="391671" y="101764"/>
                </a:lnTo>
                <a:lnTo>
                  <a:pt x="410940" y="137302"/>
                </a:lnTo>
                <a:lnTo>
                  <a:pt x="423112" y="176484"/>
                </a:lnTo>
                <a:lnTo>
                  <a:pt x="427355" y="218439"/>
                </a:lnTo>
                <a:lnTo>
                  <a:pt x="423112" y="260707"/>
                </a:lnTo>
                <a:lnTo>
                  <a:pt x="410940" y="300069"/>
                </a:lnTo>
                <a:lnTo>
                  <a:pt x="391671" y="335668"/>
                </a:lnTo>
                <a:lnTo>
                  <a:pt x="366141" y="366649"/>
                </a:lnTo>
                <a:lnTo>
                  <a:pt x="335186" y="392199"/>
                </a:lnTo>
                <a:lnTo>
                  <a:pt x="299767" y="411511"/>
                </a:lnTo>
                <a:lnTo>
                  <a:pt x="260609" y="423727"/>
                </a:lnTo>
                <a:lnTo>
                  <a:pt x="218440" y="427989"/>
                </a:lnTo>
                <a:lnTo>
                  <a:pt x="278530" y="427989"/>
                </a:lnTo>
                <a:lnTo>
                  <a:pt x="314397" y="415130"/>
                </a:lnTo>
                <a:lnTo>
                  <a:pt x="354960" y="389282"/>
                </a:lnTo>
                <a:lnTo>
                  <a:pt x="388814" y="355373"/>
                </a:lnTo>
                <a:lnTo>
                  <a:pt x="414634" y="314720"/>
                </a:lnTo>
                <a:lnTo>
                  <a:pt x="431097" y="268637"/>
                </a:lnTo>
                <a:lnTo>
                  <a:pt x="436880" y="218439"/>
                </a:lnTo>
                <a:lnTo>
                  <a:pt x="431097" y="168430"/>
                </a:lnTo>
                <a:lnTo>
                  <a:pt x="414634" y="122482"/>
                </a:lnTo>
                <a:lnTo>
                  <a:pt x="388814" y="81919"/>
                </a:lnTo>
                <a:lnTo>
                  <a:pt x="354960" y="48065"/>
                </a:lnTo>
                <a:lnTo>
                  <a:pt x="314397" y="22245"/>
                </a:lnTo>
                <a:lnTo>
                  <a:pt x="278541" y="9398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24213168" name="bg object 29"/>
          <p:cNvSpPr/>
          <p:nvPr/>
        </p:nvSpPr>
        <p:spPr bwMode="auto">
          <a:xfrm>
            <a:off x="7979791" y="366141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 fill="norm" stroke="1" extrusionOk="0">
                <a:moveTo>
                  <a:pt x="135381" y="0"/>
                </a:moveTo>
                <a:lnTo>
                  <a:pt x="92626" y="6906"/>
                </a:lnTo>
                <a:lnTo>
                  <a:pt x="55467" y="26115"/>
                </a:lnTo>
                <a:lnTo>
                  <a:pt x="26147" y="55357"/>
                </a:lnTo>
                <a:lnTo>
                  <a:pt x="6910" y="92366"/>
                </a:lnTo>
                <a:lnTo>
                  <a:pt x="0" y="134874"/>
                </a:lnTo>
                <a:lnTo>
                  <a:pt x="6910" y="177629"/>
                </a:lnTo>
                <a:lnTo>
                  <a:pt x="26147" y="214788"/>
                </a:lnTo>
                <a:lnTo>
                  <a:pt x="55467" y="244108"/>
                </a:lnTo>
                <a:lnTo>
                  <a:pt x="92626" y="263345"/>
                </a:lnTo>
                <a:lnTo>
                  <a:pt x="135381" y="270256"/>
                </a:lnTo>
                <a:lnTo>
                  <a:pt x="178084" y="263345"/>
                </a:lnTo>
                <a:lnTo>
                  <a:pt x="215117" y="244108"/>
                </a:lnTo>
                <a:lnTo>
                  <a:pt x="244287" y="214788"/>
                </a:lnTo>
                <a:lnTo>
                  <a:pt x="263398" y="177629"/>
                </a:lnTo>
                <a:lnTo>
                  <a:pt x="270255" y="134874"/>
                </a:lnTo>
                <a:lnTo>
                  <a:pt x="263398" y="92366"/>
                </a:lnTo>
                <a:lnTo>
                  <a:pt x="244287" y="55357"/>
                </a:lnTo>
                <a:lnTo>
                  <a:pt x="215117" y="26115"/>
                </a:lnTo>
                <a:lnTo>
                  <a:pt x="178084" y="6906"/>
                </a:lnTo>
                <a:lnTo>
                  <a:pt x="135381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38475242" name="bg object 30"/>
          <p:cNvSpPr/>
          <p:nvPr/>
        </p:nvSpPr>
        <p:spPr bwMode="auto">
          <a:xfrm>
            <a:off x="7975346" y="361696"/>
            <a:ext cx="280035" cy="279400"/>
          </a:xfrm>
          <a:custGeom>
            <a:avLst/>
            <a:gdLst/>
            <a:ahLst/>
            <a:cxnLst/>
            <a:rect l="l" t="t" r="r" b="b"/>
            <a:pathLst>
              <a:path w="280034" h="279400" fill="norm" stroke="1" extrusionOk="0">
                <a:moveTo>
                  <a:pt x="139826" y="0"/>
                </a:moveTo>
                <a:lnTo>
                  <a:pt x="95536" y="7100"/>
                </a:lnTo>
                <a:lnTo>
                  <a:pt x="57140" y="26875"/>
                </a:lnTo>
                <a:lnTo>
                  <a:pt x="26907" y="57031"/>
                </a:lnTo>
                <a:lnTo>
                  <a:pt x="7104" y="95276"/>
                </a:lnTo>
                <a:lnTo>
                  <a:pt x="0" y="139318"/>
                </a:lnTo>
                <a:lnTo>
                  <a:pt x="7104" y="183609"/>
                </a:lnTo>
                <a:lnTo>
                  <a:pt x="26907" y="222005"/>
                </a:lnTo>
                <a:lnTo>
                  <a:pt x="57140" y="252238"/>
                </a:lnTo>
                <a:lnTo>
                  <a:pt x="95536" y="272041"/>
                </a:lnTo>
                <a:lnTo>
                  <a:pt x="139826" y="279145"/>
                </a:lnTo>
                <a:lnTo>
                  <a:pt x="183873" y="272041"/>
                </a:lnTo>
                <a:lnTo>
                  <a:pt x="188316" y="269748"/>
                </a:lnTo>
                <a:lnTo>
                  <a:pt x="139826" y="269748"/>
                </a:lnTo>
                <a:lnTo>
                  <a:pt x="113466" y="267118"/>
                </a:lnTo>
                <a:lnTo>
                  <a:pt x="66746" y="247620"/>
                </a:lnTo>
                <a:lnTo>
                  <a:pt x="31472" y="212560"/>
                </a:lnTo>
                <a:lnTo>
                  <a:pt x="12025" y="165748"/>
                </a:lnTo>
                <a:lnTo>
                  <a:pt x="9398" y="139318"/>
                </a:lnTo>
                <a:lnTo>
                  <a:pt x="12025" y="113182"/>
                </a:lnTo>
                <a:lnTo>
                  <a:pt x="31472" y="66577"/>
                </a:lnTo>
                <a:lnTo>
                  <a:pt x="66746" y="31232"/>
                </a:lnTo>
                <a:lnTo>
                  <a:pt x="113466" y="11527"/>
                </a:lnTo>
                <a:lnTo>
                  <a:pt x="139826" y="8889"/>
                </a:lnTo>
                <a:lnTo>
                  <a:pt x="187344" y="8889"/>
                </a:lnTo>
                <a:lnTo>
                  <a:pt x="183873" y="7100"/>
                </a:lnTo>
                <a:lnTo>
                  <a:pt x="139826" y="0"/>
                </a:lnTo>
                <a:close/>
              </a:path>
              <a:path w="280034" h="279400" fill="norm" stroke="1" extrusionOk="0">
                <a:moveTo>
                  <a:pt x="187344" y="8889"/>
                </a:moveTo>
                <a:lnTo>
                  <a:pt x="139826" y="8889"/>
                </a:lnTo>
                <a:lnTo>
                  <a:pt x="166159" y="11527"/>
                </a:lnTo>
                <a:lnTo>
                  <a:pt x="190563" y="19129"/>
                </a:lnTo>
                <a:lnTo>
                  <a:pt x="231775" y="47370"/>
                </a:lnTo>
                <a:lnTo>
                  <a:pt x="259953" y="88725"/>
                </a:lnTo>
                <a:lnTo>
                  <a:pt x="270128" y="139318"/>
                </a:lnTo>
                <a:lnTo>
                  <a:pt x="267511" y="165748"/>
                </a:lnTo>
                <a:lnTo>
                  <a:pt x="247894" y="212560"/>
                </a:lnTo>
                <a:lnTo>
                  <a:pt x="212586" y="247620"/>
                </a:lnTo>
                <a:lnTo>
                  <a:pt x="166159" y="267118"/>
                </a:lnTo>
                <a:lnTo>
                  <a:pt x="139826" y="269748"/>
                </a:lnTo>
                <a:lnTo>
                  <a:pt x="188316" y="269748"/>
                </a:lnTo>
                <a:lnTo>
                  <a:pt x="222238" y="252238"/>
                </a:lnTo>
                <a:lnTo>
                  <a:pt x="252563" y="222005"/>
                </a:lnTo>
                <a:lnTo>
                  <a:pt x="272488" y="183609"/>
                </a:lnTo>
                <a:lnTo>
                  <a:pt x="279653" y="139318"/>
                </a:lnTo>
                <a:lnTo>
                  <a:pt x="272488" y="95276"/>
                </a:lnTo>
                <a:lnTo>
                  <a:pt x="252563" y="57031"/>
                </a:lnTo>
                <a:lnTo>
                  <a:pt x="222238" y="26875"/>
                </a:lnTo>
                <a:lnTo>
                  <a:pt x="187344" y="8889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64244481" name="bg object 31"/>
          <p:cNvSpPr/>
          <p:nvPr/>
        </p:nvSpPr>
        <p:spPr bwMode="auto">
          <a:xfrm>
            <a:off x="8703182" y="1122552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 fill="norm" stroke="1" extrusionOk="0">
                <a:moveTo>
                  <a:pt x="141477" y="0"/>
                </a:moveTo>
                <a:lnTo>
                  <a:pt x="96576" y="7174"/>
                </a:lnTo>
                <a:lnTo>
                  <a:pt x="57716" y="27163"/>
                </a:lnTo>
                <a:lnTo>
                  <a:pt x="27159" y="57662"/>
                </a:lnTo>
                <a:lnTo>
                  <a:pt x="7166" y="96365"/>
                </a:lnTo>
                <a:lnTo>
                  <a:pt x="0" y="140970"/>
                </a:lnTo>
                <a:lnTo>
                  <a:pt x="7166" y="185822"/>
                </a:lnTo>
                <a:lnTo>
                  <a:pt x="27159" y="224676"/>
                </a:lnTo>
                <a:lnTo>
                  <a:pt x="57716" y="255251"/>
                </a:lnTo>
                <a:lnTo>
                  <a:pt x="96576" y="275268"/>
                </a:lnTo>
                <a:lnTo>
                  <a:pt x="141477" y="282448"/>
                </a:lnTo>
                <a:lnTo>
                  <a:pt x="186082" y="275268"/>
                </a:lnTo>
                <a:lnTo>
                  <a:pt x="224785" y="255251"/>
                </a:lnTo>
                <a:lnTo>
                  <a:pt x="255284" y="224676"/>
                </a:lnTo>
                <a:lnTo>
                  <a:pt x="275273" y="185822"/>
                </a:lnTo>
                <a:lnTo>
                  <a:pt x="282448" y="140970"/>
                </a:lnTo>
                <a:lnTo>
                  <a:pt x="275273" y="96365"/>
                </a:lnTo>
                <a:lnTo>
                  <a:pt x="255284" y="57662"/>
                </a:lnTo>
                <a:lnTo>
                  <a:pt x="224785" y="27163"/>
                </a:lnTo>
                <a:lnTo>
                  <a:pt x="186082" y="7174"/>
                </a:lnTo>
                <a:lnTo>
                  <a:pt x="1414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20801702" name="bg object 32"/>
          <p:cNvSpPr/>
          <p:nvPr/>
        </p:nvSpPr>
        <p:spPr bwMode="auto">
          <a:xfrm>
            <a:off x="8698610" y="1117472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4" fill="norm" stroke="1" extrusionOk="0">
                <a:moveTo>
                  <a:pt x="146050" y="0"/>
                </a:moveTo>
                <a:lnTo>
                  <a:pt x="99844" y="7483"/>
                </a:lnTo>
                <a:lnTo>
                  <a:pt x="59746" y="28293"/>
                </a:lnTo>
                <a:lnTo>
                  <a:pt x="28147" y="59966"/>
                </a:lnTo>
                <a:lnTo>
                  <a:pt x="7435" y="100039"/>
                </a:lnTo>
                <a:lnTo>
                  <a:pt x="0" y="146050"/>
                </a:lnTo>
                <a:lnTo>
                  <a:pt x="7435" y="192308"/>
                </a:lnTo>
                <a:lnTo>
                  <a:pt x="28147" y="232531"/>
                </a:lnTo>
                <a:lnTo>
                  <a:pt x="59746" y="264281"/>
                </a:lnTo>
                <a:lnTo>
                  <a:pt x="99844" y="285120"/>
                </a:lnTo>
                <a:lnTo>
                  <a:pt x="146050" y="292607"/>
                </a:lnTo>
                <a:lnTo>
                  <a:pt x="192060" y="285120"/>
                </a:lnTo>
                <a:lnTo>
                  <a:pt x="195978" y="283082"/>
                </a:lnTo>
                <a:lnTo>
                  <a:pt x="146050" y="283082"/>
                </a:lnTo>
                <a:lnTo>
                  <a:pt x="118461" y="280259"/>
                </a:lnTo>
                <a:lnTo>
                  <a:pt x="69522" y="259562"/>
                </a:lnTo>
                <a:lnTo>
                  <a:pt x="32484" y="222791"/>
                </a:lnTo>
                <a:lnTo>
                  <a:pt x="11822" y="173710"/>
                </a:lnTo>
                <a:lnTo>
                  <a:pt x="9017" y="146050"/>
                </a:lnTo>
                <a:lnTo>
                  <a:pt x="11822" y="118683"/>
                </a:lnTo>
                <a:lnTo>
                  <a:pt x="32484" y="69808"/>
                </a:lnTo>
                <a:lnTo>
                  <a:pt x="69522" y="32777"/>
                </a:lnTo>
                <a:lnTo>
                  <a:pt x="118461" y="12259"/>
                </a:lnTo>
                <a:lnTo>
                  <a:pt x="146050" y="9525"/>
                </a:lnTo>
                <a:lnTo>
                  <a:pt x="195991" y="9525"/>
                </a:lnTo>
                <a:lnTo>
                  <a:pt x="192060" y="7483"/>
                </a:lnTo>
                <a:lnTo>
                  <a:pt x="146050" y="0"/>
                </a:lnTo>
                <a:close/>
              </a:path>
              <a:path w="292100" h="292734" fill="norm" stroke="1" extrusionOk="0">
                <a:moveTo>
                  <a:pt x="195991" y="9525"/>
                </a:moveTo>
                <a:lnTo>
                  <a:pt x="146050" y="9525"/>
                </a:lnTo>
                <a:lnTo>
                  <a:pt x="173416" y="12259"/>
                </a:lnTo>
                <a:lnTo>
                  <a:pt x="199056" y="20161"/>
                </a:lnTo>
                <a:lnTo>
                  <a:pt x="242443" y="49656"/>
                </a:lnTo>
                <a:lnTo>
                  <a:pt x="271938" y="93043"/>
                </a:lnTo>
                <a:lnTo>
                  <a:pt x="282575" y="146050"/>
                </a:lnTo>
                <a:lnTo>
                  <a:pt x="279840" y="173710"/>
                </a:lnTo>
                <a:lnTo>
                  <a:pt x="259322" y="222791"/>
                </a:lnTo>
                <a:lnTo>
                  <a:pt x="222291" y="259562"/>
                </a:lnTo>
                <a:lnTo>
                  <a:pt x="173416" y="280259"/>
                </a:lnTo>
                <a:lnTo>
                  <a:pt x="146050" y="283082"/>
                </a:lnTo>
                <a:lnTo>
                  <a:pt x="195978" y="283082"/>
                </a:lnTo>
                <a:lnTo>
                  <a:pt x="232133" y="264281"/>
                </a:lnTo>
                <a:lnTo>
                  <a:pt x="263806" y="232531"/>
                </a:lnTo>
                <a:lnTo>
                  <a:pt x="284616" y="192308"/>
                </a:lnTo>
                <a:lnTo>
                  <a:pt x="292100" y="146050"/>
                </a:lnTo>
                <a:lnTo>
                  <a:pt x="284616" y="100039"/>
                </a:lnTo>
                <a:lnTo>
                  <a:pt x="263806" y="59966"/>
                </a:lnTo>
                <a:lnTo>
                  <a:pt x="232133" y="28293"/>
                </a:lnTo>
                <a:lnTo>
                  <a:pt x="195991" y="95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015449661" name="bg object 33"/>
          <p:cNvPicPr/>
          <p:nvPr/>
        </p:nvPicPr>
        <p:blipFill rotWithShape="1">
          <a:blip r:embed="rId4"/>
          <a:stretch/>
        </p:blipFill>
        <p:spPr bwMode="auto">
          <a:xfrm>
            <a:off x="8760586" y="1179956"/>
            <a:ext cx="167640" cy="167639"/>
          </a:xfrm>
          <a:prstGeom prst="rect">
            <a:avLst/>
          </a:prstGeom>
        </p:spPr>
      </p:pic>
      <p:pic>
        <p:nvPicPr>
          <p:cNvPr id="773851988" name="bg object 34"/>
          <p:cNvPicPr/>
          <p:nvPr/>
        </p:nvPicPr>
        <p:blipFill rotWithShape="1">
          <a:blip r:embed="rId5"/>
          <a:stretch/>
        </p:blipFill>
        <p:spPr bwMode="auto">
          <a:xfrm>
            <a:off x="8303894" y="4836196"/>
            <a:ext cx="712317" cy="265479"/>
          </a:xfrm>
          <a:prstGeom prst="rect">
            <a:avLst/>
          </a:prstGeom>
        </p:spPr>
      </p:pic>
      <p:sp>
        <p:nvSpPr>
          <p:cNvPr id="1621246657" name="bg object 35"/>
          <p:cNvSpPr/>
          <p:nvPr/>
        </p:nvSpPr>
        <p:spPr bwMode="auto">
          <a:xfrm>
            <a:off x="0" y="473833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 fill="norm" stroke="1" extrusionOk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9525">
            <a:solidFill>
              <a:srgbClr val="01ABA9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61488911" name="bg object 36"/>
          <p:cNvSpPr/>
          <p:nvPr/>
        </p:nvSpPr>
        <p:spPr bwMode="auto">
          <a:xfrm>
            <a:off x="8157908" y="4738331"/>
            <a:ext cx="9525" cy="405765"/>
          </a:xfrm>
          <a:custGeom>
            <a:avLst/>
            <a:gdLst/>
            <a:ahLst/>
            <a:cxnLst/>
            <a:rect l="l" t="t" r="r" b="b"/>
            <a:pathLst>
              <a:path w="9525" h="405764" fill="norm" stroke="1" extrusionOk="0">
                <a:moveTo>
                  <a:pt x="9525" y="0"/>
                </a:moveTo>
                <a:lnTo>
                  <a:pt x="0" y="0"/>
                </a:lnTo>
                <a:lnTo>
                  <a:pt x="0" y="405168"/>
                </a:lnTo>
                <a:lnTo>
                  <a:pt x="9525" y="405168"/>
                </a:lnTo>
                <a:lnTo>
                  <a:pt x="9525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2143265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200" b="0" i="0">
                <a:solidFill>
                  <a:srgbClr val="484848"/>
                </a:solidFill>
                <a:latin typeface="Century Gothic"/>
                <a:cs typeface="Century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8967902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01417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25213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0349415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wo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904521" name="bg object 16"/>
          <p:cNvSpPr/>
          <p:nvPr/>
        </p:nvSpPr>
        <p:spPr bwMode="auto">
          <a:xfrm>
            <a:off x="8108950" y="501269"/>
            <a:ext cx="737870" cy="737870"/>
          </a:xfrm>
          <a:custGeom>
            <a:avLst/>
            <a:gdLst/>
            <a:ahLst/>
            <a:cxnLst/>
            <a:rect l="l" t="t" r="r" b="b"/>
            <a:pathLst>
              <a:path w="737870" h="737869" fill="norm" stroke="1" extrusionOk="0">
                <a:moveTo>
                  <a:pt x="737743" y="737742"/>
                </a:moveTo>
                <a:lnTo>
                  <a:pt x="0" y="0"/>
                </a:lnTo>
              </a:path>
            </a:pathLst>
          </a:custGeom>
          <a:ln w="9524">
            <a:solidFill>
              <a:srgbClr val="3C3C3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05473265" name="bg object 17"/>
          <p:cNvSpPr/>
          <p:nvPr/>
        </p:nvSpPr>
        <p:spPr bwMode="auto">
          <a:xfrm>
            <a:off x="0" y="274193"/>
            <a:ext cx="1795780" cy="654685"/>
          </a:xfrm>
          <a:custGeom>
            <a:avLst/>
            <a:gdLst/>
            <a:ahLst/>
            <a:cxnLst/>
            <a:rect l="l" t="t" r="r" b="b"/>
            <a:pathLst>
              <a:path w="1795780" h="654685" fill="norm" stroke="1" extrusionOk="0">
                <a:moveTo>
                  <a:pt x="582472" y="8001"/>
                </a:moveTo>
                <a:lnTo>
                  <a:pt x="1795399" y="430657"/>
                </a:lnTo>
              </a:path>
              <a:path w="1795780" h="654685" fill="norm" stroke="1" extrusionOk="0">
                <a:moveTo>
                  <a:pt x="0" y="654304"/>
                </a:moveTo>
                <a:lnTo>
                  <a:pt x="582599" y="0"/>
                </a:lnTo>
              </a:path>
            </a:pathLst>
          </a:custGeom>
          <a:ln w="9525">
            <a:solidFill>
              <a:srgbClr val="3C3C3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44219" name="bg object 18"/>
          <p:cNvSpPr/>
          <p:nvPr/>
        </p:nvSpPr>
        <p:spPr bwMode="auto">
          <a:xfrm>
            <a:off x="428231" y="130428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 fill="norm" stroke="1" extrusionOk="0">
                <a:moveTo>
                  <a:pt x="141516" y="0"/>
                </a:moveTo>
                <a:lnTo>
                  <a:pt x="96625" y="7174"/>
                </a:lnTo>
                <a:lnTo>
                  <a:pt x="57758" y="27163"/>
                </a:lnTo>
                <a:lnTo>
                  <a:pt x="27184" y="57662"/>
                </a:lnTo>
                <a:lnTo>
                  <a:pt x="7174" y="96365"/>
                </a:lnTo>
                <a:lnTo>
                  <a:pt x="0" y="140970"/>
                </a:lnTo>
                <a:lnTo>
                  <a:pt x="7174" y="185822"/>
                </a:lnTo>
                <a:lnTo>
                  <a:pt x="27184" y="224676"/>
                </a:lnTo>
                <a:lnTo>
                  <a:pt x="57758" y="255251"/>
                </a:lnTo>
                <a:lnTo>
                  <a:pt x="96625" y="275268"/>
                </a:lnTo>
                <a:lnTo>
                  <a:pt x="141516" y="282448"/>
                </a:lnTo>
                <a:lnTo>
                  <a:pt x="186144" y="275268"/>
                </a:lnTo>
                <a:lnTo>
                  <a:pt x="224859" y="255251"/>
                </a:lnTo>
                <a:lnTo>
                  <a:pt x="255361" y="224676"/>
                </a:lnTo>
                <a:lnTo>
                  <a:pt x="275350" y="185822"/>
                </a:lnTo>
                <a:lnTo>
                  <a:pt x="282524" y="140970"/>
                </a:lnTo>
                <a:lnTo>
                  <a:pt x="275350" y="96365"/>
                </a:lnTo>
                <a:lnTo>
                  <a:pt x="255361" y="57662"/>
                </a:lnTo>
                <a:lnTo>
                  <a:pt x="224859" y="27163"/>
                </a:lnTo>
                <a:lnTo>
                  <a:pt x="186144" y="7174"/>
                </a:lnTo>
                <a:lnTo>
                  <a:pt x="1415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10011922" name="bg object 19"/>
          <p:cNvSpPr/>
          <p:nvPr/>
        </p:nvSpPr>
        <p:spPr bwMode="auto">
          <a:xfrm>
            <a:off x="423748" y="125348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4" fill="norm" stroke="1" extrusionOk="0">
                <a:moveTo>
                  <a:pt x="145999" y="0"/>
                </a:moveTo>
                <a:lnTo>
                  <a:pt x="99789" y="7483"/>
                </a:lnTo>
                <a:lnTo>
                  <a:pt x="59703" y="28293"/>
                </a:lnTo>
                <a:lnTo>
                  <a:pt x="28122" y="59966"/>
                </a:lnTo>
                <a:lnTo>
                  <a:pt x="7427" y="100039"/>
                </a:lnTo>
                <a:lnTo>
                  <a:pt x="0" y="146050"/>
                </a:lnTo>
                <a:lnTo>
                  <a:pt x="7427" y="192308"/>
                </a:lnTo>
                <a:lnTo>
                  <a:pt x="28122" y="232531"/>
                </a:lnTo>
                <a:lnTo>
                  <a:pt x="59703" y="264281"/>
                </a:lnTo>
                <a:lnTo>
                  <a:pt x="99789" y="285120"/>
                </a:lnTo>
                <a:lnTo>
                  <a:pt x="145999" y="292608"/>
                </a:lnTo>
                <a:lnTo>
                  <a:pt x="191999" y="285120"/>
                </a:lnTo>
                <a:lnTo>
                  <a:pt x="195915" y="283083"/>
                </a:lnTo>
                <a:lnTo>
                  <a:pt x="145999" y="283083"/>
                </a:lnTo>
                <a:lnTo>
                  <a:pt x="118400" y="280259"/>
                </a:lnTo>
                <a:lnTo>
                  <a:pt x="69452" y="259562"/>
                </a:lnTo>
                <a:lnTo>
                  <a:pt x="32432" y="222791"/>
                </a:lnTo>
                <a:lnTo>
                  <a:pt x="11748" y="173710"/>
                </a:lnTo>
                <a:lnTo>
                  <a:pt x="8928" y="146050"/>
                </a:lnTo>
                <a:lnTo>
                  <a:pt x="11748" y="118683"/>
                </a:lnTo>
                <a:lnTo>
                  <a:pt x="32432" y="69808"/>
                </a:lnTo>
                <a:lnTo>
                  <a:pt x="69452" y="32777"/>
                </a:lnTo>
                <a:lnTo>
                  <a:pt x="118400" y="12259"/>
                </a:lnTo>
                <a:lnTo>
                  <a:pt x="145999" y="9525"/>
                </a:lnTo>
                <a:lnTo>
                  <a:pt x="195928" y="9525"/>
                </a:lnTo>
                <a:lnTo>
                  <a:pt x="191999" y="7483"/>
                </a:lnTo>
                <a:lnTo>
                  <a:pt x="145999" y="0"/>
                </a:lnTo>
                <a:close/>
              </a:path>
              <a:path w="292100" h="292734" fill="norm" stroke="1" extrusionOk="0">
                <a:moveTo>
                  <a:pt x="195928" y="9525"/>
                </a:moveTo>
                <a:lnTo>
                  <a:pt x="145999" y="9525"/>
                </a:lnTo>
                <a:lnTo>
                  <a:pt x="173375" y="12259"/>
                </a:lnTo>
                <a:lnTo>
                  <a:pt x="199024" y="20161"/>
                </a:lnTo>
                <a:lnTo>
                  <a:pt x="242430" y="49656"/>
                </a:lnTo>
                <a:lnTo>
                  <a:pt x="271878" y="93043"/>
                </a:lnTo>
                <a:lnTo>
                  <a:pt x="282524" y="146050"/>
                </a:lnTo>
                <a:lnTo>
                  <a:pt x="279784" y="173710"/>
                </a:lnTo>
                <a:lnTo>
                  <a:pt x="259271" y="222791"/>
                </a:lnTo>
                <a:lnTo>
                  <a:pt x="222269" y="259562"/>
                </a:lnTo>
                <a:lnTo>
                  <a:pt x="173375" y="280259"/>
                </a:lnTo>
                <a:lnTo>
                  <a:pt x="145999" y="283083"/>
                </a:lnTo>
                <a:lnTo>
                  <a:pt x="195915" y="283083"/>
                </a:lnTo>
                <a:lnTo>
                  <a:pt x="232059" y="264281"/>
                </a:lnTo>
                <a:lnTo>
                  <a:pt x="263719" y="232531"/>
                </a:lnTo>
                <a:lnTo>
                  <a:pt x="284518" y="192308"/>
                </a:lnTo>
                <a:lnTo>
                  <a:pt x="291998" y="146050"/>
                </a:lnTo>
                <a:lnTo>
                  <a:pt x="284518" y="100039"/>
                </a:lnTo>
                <a:lnTo>
                  <a:pt x="263719" y="59966"/>
                </a:lnTo>
                <a:lnTo>
                  <a:pt x="232059" y="28293"/>
                </a:lnTo>
                <a:lnTo>
                  <a:pt x="195928" y="95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35272042" name="bg object 20"/>
          <p:cNvPicPr/>
          <p:nvPr/>
        </p:nvPicPr>
        <p:blipFill rotWithShape="1">
          <a:blip r:embed="rId2"/>
          <a:stretch/>
        </p:blipFill>
        <p:spPr bwMode="auto">
          <a:xfrm>
            <a:off x="485622" y="187832"/>
            <a:ext cx="167728" cy="167639"/>
          </a:xfrm>
          <a:prstGeom prst="rect">
            <a:avLst/>
          </a:prstGeom>
        </p:spPr>
      </p:pic>
      <p:sp>
        <p:nvSpPr>
          <p:cNvPr id="1731439352" name="bg object 21"/>
          <p:cNvSpPr/>
          <p:nvPr/>
        </p:nvSpPr>
        <p:spPr bwMode="auto">
          <a:xfrm>
            <a:off x="1640967" y="560704"/>
            <a:ext cx="288924" cy="288290"/>
          </a:xfrm>
          <a:custGeom>
            <a:avLst/>
            <a:gdLst/>
            <a:ahLst/>
            <a:cxnLst/>
            <a:rect l="l" t="t" r="r" b="b"/>
            <a:pathLst>
              <a:path w="288925" h="288290" fill="norm" stroke="1" extrusionOk="0">
                <a:moveTo>
                  <a:pt x="144271" y="0"/>
                </a:moveTo>
                <a:lnTo>
                  <a:pt x="98690" y="7345"/>
                </a:lnTo>
                <a:lnTo>
                  <a:pt x="59088" y="27797"/>
                </a:lnTo>
                <a:lnTo>
                  <a:pt x="27850" y="58978"/>
                </a:lnTo>
                <a:lnTo>
                  <a:pt x="7359" y="98511"/>
                </a:lnTo>
                <a:lnTo>
                  <a:pt x="0" y="144018"/>
                </a:lnTo>
                <a:lnTo>
                  <a:pt x="7359" y="189648"/>
                </a:lnTo>
                <a:lnTo>
                  <a:pt x="27850" y="229256"/>
                </a:lnTo>
                <a:lnTo>
                  <a:pt x="59088" y="260475"/>
                </a:lnTo>
                <a:lnTo>
                  <a:pt x="98690" y="280942"/>
                </a:lnTo>
                <a:lnTo>
                  <a:pt x="144271" y="288290"/>
                </a:lnTo>
                <a:lnTo>
                  <a:pt x="189915" y="280942"/>
                </a:lnTo>
                <a:lnTo>
                  <a:pt x="229555" y="260475"/>
                </a:lnTo>
                <a:lnTo>
                  <a:pt x="260812" y="229256"/>
                </a:lnTo>
                <a:lnTo>
                  <a:pt x="281310" y="189648"/>
                </a:lnTo>
                <a:lnTo>
                  <a:pt x="288670" y="144018"/>
                </a:lnTo>
                <a:lnTo>
                  <a:pt x="281310" y="98511"/>
                </a:lnTo>
                <a:lnTo>
                  <a:pt x="260812" y="58978"/>
                </a:lnTo>
                <a:lnTo>
                  <a:pt x="229555" y="27797"/>
                </a:lnTo>
                <a:lnTo>
                  <a:pt x="189915" y="7345"/>
                </a:lnTo>
                <a:lnTo>
                  <a:pt x="144271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05826334" name="bg object 22"/>
          <p:cNvSpPr/>
          <p:nvPr/>
        </p:nvSpPr>
        <p:spPr bwMode="auto">
          <a:xfrm>
            <a:off x="1638680" y="558165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69" h="293369" fill="norm" stroke="1" extrusionOk="0">
                <a:moveTo>
                  <a:pt x="146557" y="0"/>
                </a:moveTo>
                <a:lnTo>
                  <a:pt x="100299" y="7475"/>
                </a:lnTo>
                <a:lnTo>
                  <a:pt x="60076" y="28289"/>
                </a:lnTo>
                <a:lnTo>
                  <a:pt x="28326" y="60021"/>
                </a:lnTo>
                <a:lnTo>
                  <a:pt x="7487" y="100250"/>
                </a:lnTo>
                <a:lnTo>
                  <a:pt x="0" y="146558"/>
                </a:lnTo>
                <a:lnTo>
                  <a:pt x="7487" y="192989"/>
                </a:lnTo>
                <a:lnTo>
                  <a:pt x="28326" y="233293"/>
                </a:lnTo>
                <a:lnTo>
                  <a:pt x="60076" y="265064"/>
                </a:lnTo>
                <a:lnTo>
                  <a:pt x="100299" y="285892"/>
                </a:lnTo>
                <a:lnTo>
                  <a:pt x="146557" y="293370"/>
                </a:lnTo>
                <a:lnTo>
                  <a:pt x="175657" y="288671"/>
                </a:lnTo>
                <a:lnTo>
                  <a:pt x="146557" y="288671"/>
                </a:lnTo>
                <a:lnTo>
                  <a:pt x="117935" y="285751"/>
                </a:lnTo>
                <a:lnTo>
                  <a:pt x="67262" y="264292"/>
                </a:lnTo>
                <a:lnTo>
                  <a:pt x="28989" y="225960"/>
                </a:lnTo>
                <a:lnTo>
                  <a:pt x="7689" y="175184"/>
                </a:lnTo>
                <a:lnTo>
                  <a:pt x="4825" y="146558"/>
                </a:lnTo>
                <a:lnTo>
                  <a:pt x="7689" y="118042"/>
                </a:lnTo>
                <a:lnTo>
                  <a:pt x="28989" y="67298"/>
                </a:lnTo>
                <a:lnTo>
                  <a:pt x="67262" y="28936"/>
                </a:lnTo>
                <a:lnTo>
                  <a:pt x="117935" y="7671"/>
                </a:lnTo>
                <a:lnTo>
                  <a:pt x="146557" y="4825"/>
                </a:lnTo>
                <a:lnTo>
                  <a:pt x="176451" y="4825"/>
                </a:lnTo>
                <a:lnTo>
                  <a:pt x="146557" y="0"/>
                </a:lnTo>
                <a:close/>
              </a:path>
              <a:path w="293369" h="293369" fill="norm" stroke="1" extrusionOk="0">
                <a:moveTo>
                  <a:pt x="176451" y="4825"/>
                </a:moveTo>
                <a:lnTo>
                  <a:pt x="146557" y="4825"/>
                </a:lnTo>
                <a:lnTo>
                  <a:pt x="175240" y="7671"/>
                </a:lnTo>
                <a:lnTo>
                  <a:pt x="201898" y="15875"/>
                </a:lnTo>
                <a:lnTo>
                  <a:pt x="247142" y="46355"/>
                </a:lnTo>
                <a:lnTo>
                  <a:pt x="277479" y="91408"/>
                </a:lnTo>
                <a:lnTo>
                  <a:pt x="288670" y="146558"/>
                </a:lnTo>
                <a:lnTo>
                  <a:pt x="285771" y="175184"/>
                </a:lnTo>
                <a:lnTo>
                  <a:pt x="264400" y="225960"/>
                </a:lnTo>
                <a:lnTo>
                  <a:pt x="226032" y="264292"/>
                </a:lnTo>
                <a:lnTo>
                  <a:pt x="175240" y="285751"/>
                </a:lnTo>
                <a:lnTo>
                  <a:pt x="146557" y="288671"/>
                </a:lnTo>
                <a:lnTo>
                  <a:pt x="175657" y="288671"/>
                </a:lnTo>
                <a:lnTo>
                  <a:pt x="233094" y="265064"/>
                </a:lnTo>
                <a:lnTo>
                  <a:pt x="264826" y="233293"/>
                </a:lnTo>
                <a:lnTo>
                  <a:pt x="285640" y="192989"/>
                </a:lnTo>
                <a:lnTo>
                  <a:pt x="293116" y="146558"/>
                </a:lnTo>
                <a:lnTo>
                  <a:pt x="285640" y="100250"/>
                </a:lnTo>
                <a:lnTo>
                  <a:pt x="264826" y="60021"/>
                </a:lnTo>
                <a:lnTo>
                  <a:pt x="233094" y="28289"/>
                </a:lnTo>
                <a:lnTo>
                  <a:pt x="192865" y="7475"/>
                </a:lnTo>
                <a:lnTo>
                  <a:pt x="176451" y="48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2141203640" name="bg object 23"/>
          <p:cNvPicPr/>
          <p:nvPr/>
        </p:nvPicPr>
        <p:blipFill rotWithShape="1">
          <a:blip r:embed="rId3"/>
          <a:stretch/>
        </p:blipFill>
        <p:spPr bwMode="auto">
          <a:xfrm>
            <a:off x="1675257" y="594614"/>
            <a:ext cx="220091" cy="220472"/>
          </a:xfrm>
          <a:prstGeom prst="rect">
            <a:avLst/>
          </a:prstGeom>
        </p:spPr>
      </p:pic>
      <p:sp>
        <p:nvSpPr>
          <p:cNvPr id="135129727" name="bg object 24"/>
          <p:cNvSpPr/>
          <p:nvPr/>
        </p:nvSpPr>
        <p:spPr bwMode="auto">
          <a:xfrm>
            <a:off x="8151368" y="11743"/>
            <a:ext cx="993140" cy="489584"/>
          </a:xfrm>
          <a:custGeom>
            <a:avLst/>
            <a:gdLst/>
            <a:ahLst/>
            <a:cxnLst/>
            <a:rect l="l" t="t" r="r" b="b"/>
            <a:pathLst>
              <a:path w="993140" h="489584" fill="norm" stroke="1" extrusionOk="0">
                <a:moveTo>
                  <a:pt x="992631" y="0"/>
                </a:moveTo>
                <a:lnTo>
                  <a:pt x="0" y="489525"/>
                </a:lnTo>
              </a:path>
            </a:pathLst>
          </a:custGeom>
          <a:ln w="9525">
            <a:solidFill>
              <a:srgbClr val="3C3C3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47800561" name="bg object 25"/>
          <p:cNvSpPr/>
          <p:nvPr/>
        </p:nvSpPr>
        <p:spPr bwMode="auto">
          <a:xfrm>
            <a:off x="7828661" y="215137"/>
            <a:ext cx="573405" cy="572770"/>
          </a:xfrm>
          <a:custGeom>
            <a:avLst/>
            <a:gdLst/>
            <a:ahLst/>
            <a:cxnLst/>
            <a:rect l="l" t="t" r="r" b="b"/>
            <a:pathLst>
              <a:path w="573404" h="572770" fill="norm" stroke="1" extrusionOk="0">
                <a:moveTo>
                  <a:pt x="286512" y="0"/>
                </a:moveTo>
                <a:lnTo>
                  <a:pt x="240036" y="3745"/>
                </a:lnTo>
                <a:lnTo>
                  <a:pt x="195949" y="14588"/>
                </a:lnTo>
                <a:lnTo>
                  <a:pt x="154840" y="31937"/>
                </a:lnTo>
                <a:lnTo>
                  <a:pt x="117299" y="55201"/>
                </a:lnTo>
                <a:lnTo>
                  <a:pt x="83915" y="83788"/>
                </a:lnTo>
                <a:lnTo>
                  <a:pt x="55278" y="117107"/>
                </a:lnTo>
                <a:lnTo>
                  <a:pt x="31978" y="154566"/>
                </a:lnTo>
                <a:lnTo>
                  <a:pt x="14606" y="195575"/>
                </a:lnTo>
                <a:lnTo>
                  <a:pt x="3749" y="239543"/>
                </a:lnTo>
                <a:lnTo>
                  <a:pt x="0" y="285876"/>
                </a:lnTo>
                <a:lnTo>
                  <a:pt x="3749" y="332348"/>
                </a:lnTo>
                <a:lnTo>
                  <a:pt x="14606" y="376425"/>
                </a:lnTo>
                <a:lnTo>
                  <a:pt x="31978" y="417520"/>
                </a:lnTo>
                <a:lnTo>
                  <a:pt x="55278" y="455045"/>
                </a:lnTo>
                <a:lnTo>
                  <a:pt x="83915" y="488410"/>
                </a:lnTo>
                <a:lnTo>
                  <a:pt x="117299" y="517028"/>
                </a:lnTo>
                <a:lnTo>
                  <a:pt x="154840" y="540310"/>
                </a:lnTo>
                <a:lnTo>
                  <a:pt x="195949" y="557669"/>
                </a:lnTo>
                <a:lnTo>
                  <a:pt x="240036" y="568515"/>
                </a:lnTo>
                <a:lnTo>
                  <a:pt x="286512" y="572262"/>
                </a:lnTo>
                <a:lnTo>
                  <a:pt x="332983" y="568515"/>
                </a:lnTo>
                <a:lnTo>
                  <a:pt x="377060" y="557669"/>
                </a:lnTo>
                <a:lnTo>
                  <a:pt x="418155" y="540310"/>
                </a:lnTo>
                <a:lnTo>
                  <a:pt x="455680" y="517028"/>
                </a:lnTo>
                <a:lnTo>
                  <a:pt x="489045" y="488410"/>
                </a:lnTo>
                <a:lnTo>
                  <a:pt x="517663" y="455045"/>
                </a:lnTo>
                <a:lnTo>
                  <a:pt x="540945" y="417520"/>
                </a:lnTo>
                <a:lnTo>
                  <a:pt x="558304" y="376425"/>
                </a:lnTo>
                <a:lnTo>
                  <a:pt x="569150" y="332348"/>
                </a:lnTo>
                <a:lnTo>
                  <a:pt x="572897" y="285876"/>
                </a:lnTo>
                <a:lnTo>
                  <a:pt x="569150" y="239543"/>
                </a:lnTo>
                <a:lnTo>
                  <a:pt x="558304" y="195575"/>
                </a:lnTo>
                <a:lnTo>
                  <a:pt x="540945" y="154566"/>
                </a:lnTo>
                <a:lnTo>
                  <a:pt x="517663" y="117107"/>
                </a:lnTo>
                <a:lnTo>
                  <a:pt x="489045" y="83788"/>
                </a:lnTo>
                <a:lnTo>
                  <a:pt x="455680" y="55201"/>
                </a:lnTo>
                <a:lnTo>
                  <a:pt x="418155" y="31937"/>
                </a:lnTo>
                <a:lnTo>
                  <a:pt x="377060" y="14588"/>
                </a:lnTo>
                <a:lnTo>
                  <a:pt x="332983" y="3745"/>
                </a:lnTo>
                <a:lnTo>
                  <a:pt x="286512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88721023" name="bg object 26"/>
          <p:cNvSpPr/>
          <p:nvPr/>
        </p:nvSpPr>
        <p:spPr bwMode="auto">
          <a:xfrm>
            <a:off x="7824216" y="210185"/>
            <a:ext cx="582295" cy="582295"/>
          </a:xfrm>
          <a:custGeom>
            <a:avLst/>
            <a:gdLst/>
            <a:ahLst/>
            <a:cxnLst/>
            <a:rect l="l" t="t" r="r" b="b"/>
            <a:pathLst>
              <a:path w="582295" h="582295" fill="norm" stroke="1" extrusionOk="0">
                <a:moveTo>
                  <a:pt x="290956" y="0"/>
                </a:moveTo>
                <a:lnTo>
                  <a:pt x="243801" y="3808"/>
                </a:lnTo>
                <a:lnTo>
                  <a:pt x="199054" y="14835"/>
                </a:lnTo>
                <a:lnTo>
                  <a:pt x="157317" y="32479"/>
                </a:lnTo>
                <a:lnTo>
                  <a:pt x="119192" y="56140"/>
                </a:lnTo>
                <a:lnTo>
                  <a:pt x="85280" y="85216"/>
                </a:lnTo>
                <a:lnTo>
                  <a:pt x="56184" y="119109"/>
                </a:lnTo>
                <a:lnTo>
                  <a:pt x="32506" y="157217"/>
                </a:lnTo>
                <a:lnTo>
                  <a:pt x="14848" y="198940"/>
                </a:lnTo>
                <a:lnTo>
                  <a:pt x="3812" y="243678"/>
                </a:lnTo>
                <a:lnTo>
                  <a:pt x="0" y="290829"/>
                </a:lnTo>
                <a:lnTo>
                  <a:pt x="3812" y="338122"/>
                </a:lnTo>
                <a:lnTo>
                  <a:pt x="14848" y="382980"/>
                </a:lnTo>
                <a:lnTo>
                  <a:pt x="32506" y="424803"/>
                </a:lnTo>
                <a:lnTo>
                  <a:pt x="56184" y="462993"/>
                </a:lnTo>
                <a:lnTo>
                  <a:pt x="85280" y="496950"/>
                </a:lnTo>
                <a:lnTo>
                  <a:pt x="119192" y="526077"/>
                </a:lnTo>
                <a:lnTo>
                  <a:pt x="157317" y="549774"/>
                </a:lnTo>
                <a:lnTo>
                  <a:pt x="199054" y="567442"/>
                </a:lnTo>
                <a:lnTo>
                  <a:pt x="243801" y="578481"/>
                </a:lnTo>
                <a:lnTo>
                  <a:pt x="290956" y="582294"/>
                </a:lnTo>
                <a:lnTo>
                  <a:pt x="338077" y="578481"/>
                </a:lnTo>
                <a:lnTo>
                  <a:pt x="361215" y="572769"/>
                </a:lnTo>
                <a:lnTo>
                  <a:pt x="290956" y="572769"/>
                </a:lnTo>
                <a:lnTo>
                  <a:pt x="234100" y="567017"/>
                </a:lnTo>
                <a:lnTo>
                  <a:pt x="181197" y="550560"/>
                </a:lnTo>
                <a:lnTo>
                  <a:pt x="133294" y="524603"/>
                </a:lnTo>
                <a:lnTo>
                  <a:pt x="91439" y="490347"/>
                </a:lnTo>
                <a:lnTo>
                  <a:pt x="57183" y="448492"/>
                </a:lnTo>
                <a:lnTo>
                  <a:pt x="31226" y="400589"/>
                </a:lnTo>
                <a:lnTo>
                  <a:pt x="14769" y="347686"/>
                </a:lnTo>
                <a:lnTo>
                  <a:pt x="9016" y="290829"/>
                </a:lnTo>
                <a:lnTo>
                  <a:pt x="14769" y="234197"/>
                </a:lnTo>
                <a:lnTo>
                  <a:pt x="31226" y="181340"/>
                </a:lnTo>
                <a:lnTo>
                  <a:pt x="57183" y="133506"/>
                </a:lnTo>
                <a:lnTo>
                  <a:pt x="91439" y="91948"/>
                </a:lnTo>
                <a:lnTo>
                  <a:pt x="133294" y="57404"/>
                </a:lnTo>
                <a:lnTo>
                  <a:pt x="181197" y="31432"/>
                </a:lnTo>
                <a:lnTo>
                  <a:pt x="234100" y="15081"/>
                </a:lnTo>
                <a:lnTo>
                  <a:pt x="290956" y="9398"/>
                </a:lnTo>
                <a:lnTo>
                  <a:pt x="360744" y="9398"/>
                </a:lnTo>
                <a:lnTo>
                  <a:pt x="338077" y="3808"/>
                </a:lnTo>
                <a:lnTo>
                  <a:pt x="290956" y="0"/>
                </a:lnTo>
                <a:close/>
              </a:path>
              <a:path w="582295" h="582295" fill="norm" stroke="1" extrusionOk="0">
                <a:moveTo>
                  <a:pt x="360744" y="9398"/>
                </a:moveTo>
                <a:lnTo>
                  <a:pt x="290956" y="9398"/>
                </a:lnTo>
                <a:lnTo>
                  <a:pt x="347803" y="15081"/>
                </a:lnTo>
                <a:lnTo>
                  <a:pt x="400637" y="31432"/>
                </a:lnTo>
                <a:lnTo>
                  <a:pt x="448351" y="57404"/>
                </a:lnTo>
                <a:lnTo>
                  <a:pt x="489838" y="91948"/>
                </a:lnTo>
                <a:lnTo>
                  <a:pt x="524382" y="133506"/>
                </a:lnTo>
                <a:lnTo>
                  <a:pt x="550354" y="181340"/>
                </a:lnTo>
                <a:lnTo>
                  <a:pt x="566705" y="234197"/>
                </a:lnTo>
                <a:lnTo>
                  <a:pt x="572388" y="290829"/>
                </a:lnTo>
                <a:lnTo>
                  <a:pt x="566705" y="347686"/>
                </a:lnTo>
                <a:lnTo>
                  <a:pt x="550354" y="400589"/>
                </a:lnTo>
                <a:lnTo>
                  <a:pt x="524382" y="448492"/>
                </a:lnTo>
                <a:lnTo>
                  <a:pt x="489838" y="490347"/>
                </a:lnTo>
                <a:lnTo>
                  <a:pt x="448351" y="524603"/>
                </a:lnTo>
                <a:lnTo>
                  <a:pt x="400637" y="550560"/>
                </a:lnTo>
                <a:lnTo>
                  <a:pt x="347803" y="567017"/>
                </a:lnTo>
                <a:lnTo>
                  <a:pt x="290956" y="572769"/>
                </a:lnTo>
                <a:lnTo>
                  <a:pt x="361215" y="572769"/>
                </a:lnTo>
                <a:lnTo>
                  <a:pt x="424513" y="549774"/>
                </a:lnTo>
                <a:lnTo>
                  <a:pt x="462622" y="526077"/>
                </a:lnTo>
                <a:lnTo>
                  <a:pt x="496522" y="496950"/>
                </a:lnTo>
                <a:lnTo>
                  <a:pt x="525610" y="462993"/>
                </a:lnTo>
                <a:lnTo>
                  <a:pt x="549283" y="424803"/>
                </a:lnTo>
                <a:lnTo>
                  <a:pt x="566939" y="382980"/>
                </a:lnTo>
                <a:lnTo>
                  <a:pt x="577974" y="338122"/>
                </a:lnTo>
                <a:lnTo>
                  <a:pt x="581786" y="290829"/>
                </a:lnTo>
                <a:lnTo>
                  <a:pt x="577974" y="243678"/>
                </a:lnTo>
                <a:lnTo>
                  <a:pt x="566939" y="198940"/>
                </a:lnTo>
                <a:lnTo>
                  <a:pt x="549283" y="157217"/>
                </a:lnTo>
                <a:lnTo>
                  <a:pt x="525610" y="119109"/>
                </a:lnTo>
                <a:lnTo>
                  <a:pt x="496522" y="85216"/>
                </a:lnTo>
                <a:lnTo>
                  <a:pt x="462622" y="56140"/>
                </a:lnTo>
                <a:lnTo>
                  <a:pt x="424513" y="32479"/>
                </a:lnTo>
                <a:lnTo>
                  <a:pt x="382797" y="14835"/>
                </a:lnTo>
                <a:lnTo>
                  <a:pt x="360744" y="9398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0064946" name="bg object 27"/>
          <p:cNvSpPr/>
          <p:nvPr/>
        </p:nvSpPr>
        <p:spPr bwMode="auto">
          <a:xfrm>
            <a:off x="7901178" y="287528"/>
            <a:ext cx="427990" cy="427990"/>
          </a:xfrm>
          <a:custGeom>
            <a:avLst/>
            <a:gdLst/>
            <a:ahLst/>
            <a:cxnLst/>
            <a:rect l="l" t="t" r="r" b="b"/>
            <a:pathLst>
              <a:path w="427990" h="427990" fill="norm" stroke="1" extrusionOk="0">
                <a:moveTo>
                  <a:pt x="213995" y="0"/>
                </a:moveTo>
                <a:lnTo>
                  <a:pt x="164951" y="5627"/>
                </a:lnTo>
                <a:lnTo>
                  <a:pt x="119918" y="21663"/>
                </a:lnTo>
                <a:lnTo>
                  <a:pt x="80184" y="46836"/>
                </a:lnTo>
                <a:lnTo>
                  <a:pt x="47036" y="79875"/>
                </a:lnTo>
                <a:lnTo>
                  <a:pt x="21764" y="119511"/>
                </a:lnTo>
                <a:lnTo>
                  <a:pt x="5655" y="164472"/>
                </a:lnTo>
                <a:lnTo>
                  <a:pt x="0" y="213487"/>
                </a:lnTo>
                <a:lnTo>
                  <a:pt x="5655" y="262530"/>
                </a:lnTo>
                <a:lnTo>
                  <a:pt x="21764" y="307563"/>
                </a:lnTo>
                <a:lnTo>
                  <a:pt x="47036" y="347297"/>
                </a:lnTo>
                <a:lnTo>
                  <a:pt x="80184" y="380445"/>
                </a:lnTo>
                <a:lnTo>
                  <a:pt x="119918" y="405717"/>
                </a:lnTo>
                <a:lnTo>
                  <a:pt x="164951" y="421826"/>
                </a:lnTo>
                <a:lnTo>
                  <a:pt x="213995" y="427482"/>
                </a:lnTo>
                <a:lnTo>
                  <a:pt x="263038" y="421826"/>
                </a:lnTo>
                <a:lnTo>
                  <a:pt x="308071" y="405717"/>
                </a:lnTo>
                <a:lnTo>
                  <a:pt x="347805" y="380445"/>
                </a:lnTo>
                <a:lnTo>
                  <a:pt x="380953" y="347297"/>
                </a:lnTo>
                <a:lnTo>
                  <a:pt x="406225" y="307563"/>
                </a:lnTo>
                <a:lnTo>
                  <a:pt x="422334" y="262530"/>
                </a:lnTo>
                <a:lnTo>
                  <a:pt x="427990" y="213487"/>
                </a:lnTo>
                <a:lnTo>
                  <a:pt x="422334" y="164472"/>
                </a:lnTo>
                <a:lnTo>
                  <a:pt x="406225" y="119511"/>
                </a:lnTo>
                <a:lnTo>
                  <a:pt x="380953" y="79875"/>
                </a:lnTo>
                <a:lnTo>
                  <a:pt x="347805" y="46836"/>
                </a:lnTo>
                <a:lnTo>
                  <a:pt x="308071" y="21663"/>
                </a:lnTo>
                <a:lnTo>
                  <a:pt x="263038" y="5627"/>
                </a:lnTo>
                <a:lnTo>
                  <a:pt x="213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31542639" name="bg object 28"/>
          <p:cNvSpPr/>
          <p:nvPr/>
        </p:nvSpPr>
        <p:spPr bwMode="auto">
          <a:xfrm>
            <a:off x="7896733" y="282575"/>
            <a:ext cx="436880" cy="437515"/>
          </a:xfrm>
          <a:custGeom>
            <a:avLst/>
            <a:gdLst/>
            <a:ahLst/>
            <a:cxnLst/>
            <a:rect l="l" t="t" r="r" b="b"/>
            <a:pathLst>
              <a:path w="436879" h="437515" fill="norm" stroke="1" extrusionOk="0">
                <a:moveTo>
                  <a:pt x="218440" y="0"/>
                </a:moveTo>
                <a:lnTo>
                  <a:pt x="168270" y="5782"/>
                </a:lnTo>
                <a:lnTo>
                  <a:pt x="122260" y="22245"/>
                </a:lnTo>
                <a:lnTo>
                  <a:pt x="81706" y="48065"/>
                </a:lnTo>
                <a:lnTo>
                  <a:pt x="47906" y="81919"/>
                </a:lnTo>
                <a:lnTo>
                  <a:pt x="22156" y="122482"/>
                </a:lnTo>
                <a:lnTo>
                  <a:pt x="5755" y="168430"/>
                </a:lnTo>
                <a:lnTo>
                  <a:pt x="0" y="218439"/>
                </a:lnTo>
                <a:lnTo>
                  <a:pt x="5755" y="268637"/>
                </a:lnTo>
                <a:lnTo>
                  <a:pt x="22156" y="314720"/>
                </a:lnTo>
                <a:lnTo>
                  <a:pt x="47906" y="355373"/>
                </a:lnTo>
                <a:lnTo>
                  <a:pt x="81706" y="389282"/>
                </a:lnTo>
                <a:lnTo>
                  <a:pt x="122260" y="415130"/>
                </a:lnTo>
                <a:lnTo>
                  <a:pt x="168270" y="431604"/>
                </a:lnTo>
                <a:lnTo>
                  <a:pt x="218440" y="437388"/>
                </a:lnTo>
                <a:lnTo>
                  <a:pt x="268449" y="431604"/>
                </a:lnTo>
                <a:lnTo>
                  <a:pt x="278530" y="427989"/>
                </a:lnTo>
                <a:lnTo>
                  <a:pt x="218440" y="427989"/>
                </a:lnTo>
                <a:lnTo>
                  <a:pt x="176119" y="423727"/>
                </a:lnTo>
                <a:lnTo>
                  <a:pt x="136763" y="411511"/>
                </a:lnTo>
                <a:lnTo>
                  <a:pt x="101193" y="392199"/>
                </a:lnTo>
                <a:lnTo>
                  <a:pt x="70231" y="366649"/>
                </a:lnTo>
                <a:lnTo>
                  <a:pt x="44626" y="335668"/>
                </a:lnTo>
                <a:lnTo>
                  <a:pt x="25320" y="300069"/>
                </a:lnTo>
                <a:lnTo>
                  <a:pt x="13134" y="260707"/>
                </a:lnTo>
                <a:lnTo>
                  <a:pt x="8890" y="218439"/>
                </a:lnTo>
                <a:lnTo>
                  <a:pt x="13134" y="176484"/>
                </a:lnTo>
                <a:lnTo>
                  <a:pt x="25320" y="137302"/>
                </a:lnTo>
                <a:lnTo>
                  <a:pt x="44626" y="101764"/>
                </a:lnTo>
                <a:lnTo>
                  <a:pt x="70231" y="70738"/>
                </a:lnTo>
                <a:lnTo>
                  <a:pt x="101193" y="45188"/>
                </a:lnTo>
                <a:lnTo>
                  <a:pt x="136763" y="25876"/>
                </a:lnTo>
                <a:lnTo>
                  <a:pt x="176119" y="13660"/>
                </a:lnTo>
                <a:lnTo>
                  <a:pt x="218440" y="9398"/>
                </a:lnTo>
                <a:lnTo>
                  <a:pt x="278541" y="9398"/>
                </a:lnTo>
                <a:lnTo>
                  <a:pt x="268449" y="5782"/>
                </a:lnTo>
                <a:lnTo>
                  <a:pt x="218440" y="0"/>
                </a:lnTo>
                <a:close/>
              </a:path>
              <a:path w="436879" h="437515" fill="norm" stroke="1" extrusionOk="0">
                <a:moveTo>
                  <a:pt x="278541" y="9398"/>
                </a:moveTo>
                <a:lnTo>
                  <a:pt x="218440" y="9398"/>
                </a:lnTo>
                <a:lnTo>
                  <a:pt x="260609" y="13660"/>
                </a:lnTo>
                <a:lnTo>
                  <a:pt x="299767" y="25876"/>
                </a:lnTo>
                <a:lnTo>
                  <a:pt x="335186" y="45188"/>
                </a:lnTo>
                <a:lnTo>
                  <a:pt x="366141" y="70738"/>
                </a:lnTo>
                <a:lnTo>
                  <a:pt x="391671" y="101764"/>
                </a:lnTo>
                <a:lnTo>
                  <a:pt x="410940" y="137302"/>
                </a:lnTo>
                <a:lnTo>
                  <a:pt x="423112" y="176484"/>
                </a:lnTo>
                <a:lnTo>
                  <a:pt x="427355" y="218439"/>
                </a:lnTo>
                <a:lnTo>
                  <a:pt x="423112" y="260707"/>
                </a:lnTo>
                <a:lnTo>
                  <a:pt x="410940" y="300069"/>
                </a:lnTo>
                <a:lnTo>
                  <a:pt x="391671" y="335668"/>
                </a:lnTo>
                <a:lnTo>
                  <a:pt x="366141" y="366649"/>
                </a:lnTo>
                <a:lnTo>
                  <a:pt x="335186" y="392199"/>
                </a:lnTo>
                <a:lnTo>
                  <a:pt x="299767" y="411511"/>
                </a:lnTo>
                <a:lnTo>
                  <a:pt x="260609" y="423727"/>
                </a:lnTo>
                <a:lnTo>
                  <a:pt x="218440" y="427989"/>
                </a:lnTo>
                <a:lnTo>
                  <a:pt x="278530" y="427989"/>
                </a:lnTo>
                <a:lnTo>
                  <a:pt x="314397" y="415130"/>
                </a:lnTo>
                <a:lnTo>
                  <a:pt x="354960" y="389282"/>
                </a:lnTo>
                <a:lnTo>
                  <a:pt x="388814" y="355373"/>
                </a:lnTo>
                <a:lnTo>
                  <a:pt x="414634" y="314720"/>
                </a:lnTo>
                <a:lnTo>
                  <a:pt x="431097" y="268637"/>
                </a:lnTo>
                <a:lnTo>
                  <a:pt x="436880" y="218439"/>
                </a:lnTo>
                <a:lnTo>
                  <a:pt x="431097" y="168430"/>
                </a:lnTo>
                <a:lnTo>
                  <a:pt x="414634" y="122482"/>
                </a:lnTo>
                <a:lnTo>
                  <a:pt x="388814" y="81919"/>
                </a:lnTo>
                <a:lnTo>
                  <a:pt x="354960" y="48065"/>
                </a:lnTo>
                <a:lnTo>
                  <a:pt x="314397" y="22245"/>
                </a:lnTo>
                <a:lnTo>
                  <a:pt x="278541" y="9398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16427111" name="bg object 29"/>
          <p:cNvSpPr/>
          <p:nvPr/>
        </p:nvSpPr>
        <p:spPr bwMode="auto">
          <a:xfrm>
            <a:off x="7979791" y="366141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 fill="norm" stroke="1" extrusionOk="0">
                <a:moveTo>
                  <a:pt x="135381" y="0"/>
                </a:moveTo>
                <a:lnTo>
                  <a:pt x="92626" y="6906"/>
                </a:lnTo>
                <a:lnTo>
                  <a:pt x="55467" y="26115"/>
                </a:lnTo>
                <a:lnTo>
                  <a:pt x="26147" y="55357"/>
                </a:lnTo>
                <a:lnTo>
                  <a:pt x="6910" y="92366"/>
                </a:lnTo>
                <a:lnTo>
                  <a:pt x="0" y="134874"/>
                </a:lnTo>
                <a:lnTo>
                  <a:pt x="6910" y="177629"/>
                </a:lnTo>
                <a:lnTo>
                  <a:pt x="26147" y="214788"/>
                </a:lnTo>
                <a:lnTo>
                  <a:pt x="55467" y="244108"/>
                </a:lnTo>
                <a:lnTo>
                  <a:pt x="92626" y="263345"/>
                </a:lnTo>
                <a:lnTo>
                  <a:pt x="135381" y="270256"/>
                </a:lnTo>
                <a:lnTo>
                  <a:pt x="178084" y="263345"/>
                </a:lnTo>
                <a:lnTo>
                  <a:pt x="215117" y="244108"/>
                </a:lnTo>
                <a:lnTo>
                  <a:pt x="244287" y="214788"/>
                </a:lnTo>
                <a:lnTo>
                  <a:pt x="263398" y="177629"/>
                </a:lnTo>
                <a:lnTo>
                  <a:pt x="270255" y="134874"/>
                </a:lnTo>
                <a:lnTo>
                  <a:pt x="263398" y="92366"/>
                </a:lnTo>
                <a:lnTo>
                  <a:pt x="244287" y="55357"/>
                </a:lnTo>
                <a:lnTo>
                  <a:pt x="215117" y="26115"/>
                </a:lnTo>
                <a:lnTo>
                  <a:pt x="178084" y="6906"/>
                </a:lnTo>
                <a:lnTo>
                  <a:pt x="135381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65300414" name="bg object 30"/>
          <p:cNvSpPr/>
          <p:nvPr/>
        </p:nvSpPr>
        <p:spPr bwMode="auto">
          <a:xfrm>
            <a:off x="7975346" y="361696"/>
            <a:ext cx="280035" cy="279400"/>
          </a:xfrm>
          <a:custGeom>
            <a:avLst/>
            <a:gdLst/>
            <a:ahLst/>
            <a:cxnLst/>
            <a:rect l="l" t="t" r="r" b="b"/>
            <a:pathLst>
              <a:path w="280034" h="279400" fill="norm" stroke="1" extrusionOk="0">
                <a:moveTo>
                  <a:pt x="139826" y="0"/>
                </a:moveTo>
                <a:lnTo>
                  <a:pt x="95536" y="7100"/>
                </a:lnTo>
                <a:lnTo>
                  <a:pt x="57140" y="26875"/>
                </a:lnTo>
                <a:lnTo>
                  <a:pt x="26907" y="57031"/>
                </a:lnTo>
                <a:lnTo>
                  <a:pt x="7104" y="95276"/>
                </a:lnTo>
                <a:lnTo>
                  <a:pt x="0" y="139318"/>
                </a:lnTo>
                <a:lnTo>
                  <a:pt x="7104" y="183609"/>
                </a:lnTo>
                <a:lnTo>
                  <a:pt x="26907" y="222005"/>
                </a:lnTo>
                <a:lnTo>
                  <a:pt x="57140" y="252238"/>
                </a:lnTo>
                <a:lnTo>
                  <a:pt x="95536" y="272041"/>
                </a:lnTo>
                <a:lnTo>
                  <a:pt x="139826" y="279145"/>
                </a:lnTo>
                <a:lnTo>
                  <a:pt x="183873" y="272041"/>
                </a:lnTo>
                <a:lnTo>
                  <a:pt x="188316" y="269748"/>
                </a:lnTo>
                <a:lnTo>
                  <a:pt x="139826" y="269748"/>
                </a:lnTo>
                <a:lnTo>
                  <a:pt x="113466" y="267118"/>
                </a:lnTo>
                <a:lnTo>
                  <a:pt x="66746" y="247620"/>
                </a:lnTo>
                <a:lnTo>
                  <a:pt x="31472" y="212560"/>
                </a:lnTo>
                <a:lnTo>
                  <a:pt x="12025" y="165748"/>
                </a:lnTo>
                <a:lnTo>
                  <a:pt x="9398" y="139318"/>
                </a:lnTo>
                <a:lnTo>
                  <a:pt x="12025" y="113182"/>
                </a:lnTo>
                <a:lnTo>
                  <a:pt x="31472" y="66577"/>
                </a:lnTo>
                <a:lnTo>
                  <a:pt x="66746" y="31232"/>
                </a:lnTo>
                <a:lnTo>
                  <a:pt x="113466" y="11527"/>
                </a:lnTo>
                <a:lnTo>
                  <a:pt x="139826" y="8889"/>
                </a:lnTo>
                <a:lnTo>
                  <a:pt x="187344" y="8889"/>
                </a:lnTo>
                <a:lnTo>
                  <a:pt x="183873" y="7100"/>
                </a:lnTo>
                <a:lnTo>
                  <a:pt x="139826" y="0"/>
                </a:lnTo>
                <a:close/>
              </a:path>
              <a:path w="280034" h="279400" fill="norm" stroke="1" extrusionOk="0">
                <a:moveTo>
                  <a:pt x="187344" y="8889"/>
                </a:moveTo>
                <a:lnTo>
                  <a:pt x="139826" y="8889"/>
                </a:lnTo>
                <a:lnTo>
                  <a:pt x="166159" y="11527"/>
                </a:lnTo>
                <a:lnTo>
                  <a:pt x="190563" y="19129"/>
                </a:lnTo>
                <a:lnTo>
                  <a:pt x="231775" y="47370"/>
                </a:lnTo>
                <a:lnTo>
                  <a:pt x="259953" y="88725"/>
                </a:lnTo>
                <a:lnTo>
                  <a:pt x="270128" y="139318"/>
                </a:lnTo>
                <a:lnTo>
                  <a:pt x="267511" y="165748"/>
                </a:lnTo>
                <a:lnTo>
                  <a:pt x="247894" y="212560"/>
                </a:lnTo>
                <a:lnTo>
                  <a:pt x="212586" y="247620"/>
                </a:lnTo>
                <a:lnTo>
                  <a:pt x="166159" y="267118"/>
                </a:lnTo>
                <a:lnTo>
                  <a:pt x="139826" y="269748"/>
                </a:lnTo>
                <a:lnTo>
                  <a:pt x="188316" y="269748"/>
                </a:lnTo>
                <a:lnTo>
                  <a:pt x="222238" y="252238"/>
                </a:lnTo>
                <a:lnTo>
                  <a:pt x="252563" y="222005"/>
                </a:lnTo>
                <a:lnTo>
                  <a:pt x="272488" y="183609"/>
                </a:lnTo>
                <a:lnTo>
                  <a:pt x="279653" y="139318"/>
                </a:lnTo>
                <a:lnTo>
                  <a:pt x="272488" y="95276"/>
                </a:lnTo>
                <a:lnTo>
                  <a:pt x="252563" y="57031"/>
                </a:lnTo>
                <a:lnTo>
                  <a:pt x="222238" y="26875"/>
                </a:lnTo>
                <a:lnTo>
                  <a:pt x="187344" y="8889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39403525" name="bg object 31"/>
          <p:cNvSpPr/>
          <p:nvPr/>
        </p:nvSpPr>
        <p:spPr bwMode="auto">
          <a:xfrm>
            <a:off x="8703182" y="1122552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 fill="norm" stroke="1" extrusionOk="0">
                <a:moveTo>
                  <a:pt x="141477" y="0"/>
                </a:moveTo>
                <a:lnTo>
                  <a:pt x="96576" y="7174"/>
                </a:lnTo>
                <a:lnTo>
                  <a:pt x="57716" y="27163"/>
                </a:lnTo>
                <a:lnTo>
                  <a:pt x="27159" y="57662"/>
                </a:lnTo>
                <a:lnTo>
                  <a:pt x="7166" y="96365"/>
                </a:lnTo>
                <a:lnTo>
                  <a:pt x="0" y="140970"/>
                </a:lnTo>
                <a:lnTo>
                  <a:pt x="7166" y="185822"/>
                </a:lnTo>
                <a:lnTo>
                  <a:pt x="27159" y="224676"/>
                </a:lnTo>
                <a:lnTo>
                  <a:pt x="57716" y="255251"/>
                </a:lnTo>
                <a:lnTo>
                  <a:pt x="96576" y="275268"/>
                </a:lnTo>
                <a:lnTo>
                  <a:pt x="141477" y="282448"/>
                </a:lnTo>
                <a:lnTo>
                  <a:pt x="186082" y="275268"/>
                </a:lnTo>
                <a:lnTo>
                  <a:pt x="224785" y="255251"/>
                </a:lnTo>
                <a:lnTo>
                  <a:pt x="255284" y="224676"/>
                </a:lnTo>
                <a:lnTo>
                  <a:pt x="275273" y="185822"/>
                </a:lnTo>
                <a:lnTo>
                  <a:pt x="282448" y="140970"/>
                </a:lnTo>
                <a:lnTo>
                  <a:pt x="275273" y="96365"/>
                </a:lnTo>
                <a:lnTo>
                  <a:pt x="255284" y="57662"/>
                </a:lnTo>
                <a:lnTo>
                  <a:pt x="224785" y="27163"/>
                </a:lnTo>
                <a:lnTo>
                  <a:pt x="186082" y="7174"/>
                </a:lnTo>
                <a:lnTo>
                  <a:pt x="14147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52144012" name="bg object 32"/>
          <p:cNvSpPr/>
          <p:nvPr/>
        </p:nvSpPr>
        <p:spPr bwMode="auto">
          <a:xfrm>
            <a:off x="8698610" y="1117472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4" fill="norm" stroke="1" extrusionOk="0">
                <a:moveTo>
                  <a:pt x="146050" y="0"/>
                </a:moveTo>
                <a:lnTo>
                  <a:pt x="99844" y="7483"/>
                </a:lnTo>
                <a:lnTo>
                  <a:pt x="59746" y="28293"/>
                </a:lnTo>
                <a:lnTo>
                  <a:pt x="28147" y="59966"/>
                </a:lnTo>
                <a:lnTo>
                  <a:pt x="7435" y="100039"/>
                </a:lnTo>
                <a:lnTo>
                  <a:pt x="0" y="146050"/>
                </a:lnTo>
                <a:lnTo>
                  <a:pt x="7435" y="192308"/>
                </a:lnTo>
                <a:lnTo>
                  <a:pt x="28147" y="232531"/>
                </a:lnTo>
                <a:lnTo>
                  <a:pt x="59746" y="264281"/>
                </a:lnTo>
                <a:lnTo>
                  <a:pt x="99844" y="285120"/>
                </a:lnTo>
                <a:lnTo>
                  <a:pt x="146050" y="292607"/>
                </a:lnTo>
                <a:lnTo>
                  <a:pt x="192060" y="285120"/>
                </a:lnTo>
                <a:lnTo>
                  <a:pt x="195978" y="283082"/>
                </a:lnTo>
                <a:lnTo>
                  <a:pt x="146050" y="283082"/>
                </a:lnTo>
                <a:lnTo>
                  <a:pt x="118461" y="280259"/>
                </a:lnTo>
                <a:lnTo>
                  <a:pt x="69522" y="259562"/>
                </a:lnTo>
                <a:lnTo>
                  <a:pt x="32484" y="222791"/>
                </a:lnTo>
                <a:lnTo>
                  <a:pt x="11822" y="173710"/>
                </a:lnTo>
                <a:lnTo>
                  <a:pt x="9017" y="146050"/>
                </a:lnTo>
                <a:lnTo>
                  <a:pt x="11822" y="118683"/>
                </a:lnTo>
                <a:lnTo>
                  <a:pt x="32484" y="69808"/>
                </a:lnTo>
                <a:lnTo>
                  <a:pt x="69522" y="32777"/>
                </a:lnTo>
                <a:lnTo>
                  <a:pt x="118461" y="12259"/>
                </a:lnTo>
                <a:lnTo>
                  <a:pt x="146050" y="9525"/>
                </a:lnTo>
                <a:lnTo>
                  <a:pt x="195991" y="9525"/>
                </a:lnTo>
                <a:lnTo>
                  <a:pt x="192060" y="7483"/>
                </a:lnTo>
                <a:lnTo>
                  <a:pt x="146050" y="0"/>
                </a:lnTo>
                <a:close/>
              </a:path>
              <a:path w="292100" h="292734" fill="norm" stroke="1" extrusionOk="0">
                <a:moveTo>
                  <a:pt x="195991" y="9525"/>
                </a:moveTo>
                <a:lnTo>
                  <a:pt x="146050" y="9525"/>
                </a:lnTo>
                <a:lnTo>
                  <a:pt x="173416" y="12259"/>
                </a:lnTo>
                <a:lnTo>
                  <a:pt x="199056" y="20161"/>
                </a:lnTo>
                <a:lnTo>
                  <a:pt x="242443" y="49656"/>
                </a:lnTo>
                <a:lnTo>
                  <a:pt x="271938" y="93043"/>
                </a:lnTo>
                <a:lnTo>
                  <a:pt x="282575" y="146050"/>
                </a:lnTo>
                <a:lnTo>
                  <a:pt x="279840" y="173710"/>
                </a:lnTo>
                <a:lnTo>
                  <a:pt x="259322" y="222791"/>
                </a:lnTo>
                <a:lnTo>
                  <a:pt x="222291" y="259562"/>
                </a:lnTo>
                <a:lnTo>
                  <a:pt x="173416" y="280259"/>
                </a:lnTo>
                <a:lnTo>
                  <a:pt x="146050" y="283082"/>
                </a:lnTo>
                <a:lnTo>
                  <a:pt x="195978" y="283082"/>
                </a:lnTo>
                <a:lnTo>
                  <a:pt x="232133" y="264281"/>
                </a:lnTo>
                <a:lnTo>
                  <a:pt x="263806" y="232531"/>
                </a:lnTo>
                <a:lnTo>
                  <a:pt x="284616" y="192308"/>
                </a:lnTo>
                <a:lnTo>
                  <a:pt x="292100" y="146050"/>
                </a:lnTo>
                <a:lnTo>
                  <a:pt x="284616" y="100039"/>
                </a:lnTo>
                <a:lnTo>
                  <a:pt x="263806" y="59966"/>
                </a:lnTo>
                <a:lnTo>
                  <a:pt x="232133" y="28293"/>
                </a:lnTo>
                <a:lnTo>
                  <a:pt x="195991" y="95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383998788" name="bg object 33"/>
          <p:cNvPicPr/>
          <p:nvPr/>
        </p:nvPicPr>
        <p:blipFill rotWithShape="1">
          <a:blip r:embed="rId4"/>
          <a:stretch/>
        </p:blipFill>
        <p:spPr bwMode="auto">
          <a:xfrm>
            <a:off x="8760586" y="1179956"/>
            <a:ext cx="167640" cy="167639"/>
          </a:xfrm>
          <a:prstGeom prst="rect">
            <a:avLst/>
          </a:prstGeom>
        </p:spPr>
      </p:pic>
      <p:pic>
        <p:nvPicPr>
          <p:cNvPr id="455962100" name="bg object 34"/>
          <p:cNvPicPr/>
          <p:nvPr/>
        </p:nvPicPr>
        <p:blipFill rotWithShape="1">
          <a:blip r:embed="rId5"/>
          <a:stretch/>
        </p:blipFill>
        <p:spPr bwMode="auto">
          <a:xfrm>
            <a:off x="8303894" y="4836196"/>
            <a:ext cx="712317" cy="265479"/>
          </a:xfrm>
          <a:prstGeom prst="rect">
            <a:avLst/>
          </a:prstGeom>
        </p:spPr>
      </p:pic>
      <p:sp>
        <p:nvSpPr>
          <p:cNvPr id="1892344142" name="bg object 35"/>
          <p:cNvSpPr/>
          <p:nvPr/>
        </p:nvSpPr>
        <p:spPr bwMode="auto">
          <a:xfrm>
            <a:off x="0" y="4738331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 fill="norm" stroke="1" extrusionOk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9525">
            <a:solidFill>
              <a:srgbClr val="01ABA9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01403600" name="bg object 36"/>
          <p:cNvSpPr/>
          <p:nvPr/>
        </p:nvSpPr>
        <p:spPr bwMode="auto">
          <a:xfrm>
            <a:off x="8157908" y="4738331"/>
            <a:ext cx="9525" cy="405765"/>
          </a:xfrm>
          <a:custGeom>
            <a:avLst/>
            <a:gdLst/>
            <a:ahLst/>
            <a:cxnLst/>
            <a:rect l="l" t="t" r="r" b="b"/>
            <a:pathLst>
              <a:path w="9525" h="405764" fill="norm" stroke="1" extrusionOk="0">
                <a:moveTo>
                  <a:pt x="9525" y="0"/>
                </a:moveTo>
                <a:lnTo>
                  <a:pt x="0" y="0"/>
                </a:lnTo>
                <a:lnTo>
                  <a:pt x="0" y="405168"/>
                </a:lnTo>
                <a:lnTo>
                  <a:pt x="9525" y="405168"/>
                </a:lnTo>
                <a:lnTo>
                  <a:pt x="9525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99521775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200" b="0" i="0">
                <a:solidFill>
                  <a:srgbClr val="484848"/>
                </a:solidFill>
                <a:latin typeface="Century Gothic"/>
                <a:cs typeface="Century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8629799" name="Holder 3"/>
          <p:cNvSpPr>
            <a:spLocks noGrp="1"/>
          </p:cNvSpPr>
          <p:nvPr>
            <p:ph sz="half" idx="2"/>
          </p:nvPr>
        </p:nvSpPr>
        <p:spPr bwMode="auto"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00556141" name="Holder 4"/>
          <p:cNvSpPr>
            <a:spLocks noGrp="1"/>
          </p:cNvSpPr>
          <p:nvPr>
            <p:ph sz="half" idx="3"/>
          </p:nvPr>
        </p:nvSpPr>
        <p:spPr bwMode="auto"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3825514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713132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65336779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178580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3200" b="0" i="0">
                <a:solidFill>
                  <a:srgbClr val="484848"/>
                </a:solidFill>
                <a:latin typeface="Century Gothic"/>
                <a:cs typeface="Century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781883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678854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98906869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260858" name="bg object 16"/>
          <p:cNvSpPr/>
          <p:nvPr/>
        </p:nvSpPr>
        <p:spPr bwMode="auto">
          <a:xfrm>
            <a:off x="5827013" y="0"/>
            <a:ext cx="3314700" cy="1201420"/>
          </a:xfrm>
          <a:custGeom>
            <a:avLst/>
            <a:gdLst/>
            <a:ahLst/>
            <a:cxnLst/>
            <a:rect l="l" t="t" r="r" b="b"/>
            <a:pathLst>
              <a:path w="3314700" h="1201420" fill="norm" stroke="1" extrusionOk="0">
                <a:moveTo>
                  <a:pt x="1672589" y="451358"/>
                </a:moveTo>
                <a:lnTo>
                  <a:pt x="0" y="577341"/>
                </a:lnTo>
              </a:path>
              <a:path w="3314700" h="1201420" fill="norm" stroke="1" extrusionOk="0">
                <a:moveTo>
                  <a:pt x="2515362" y="1201292"/>
                </a:moveTo>
                <a:lnTo>
                  <a:pt x="1685925" y="457835"/>
                </a:lnTo>
              </a:path>
              <a:path w="3314700" h="1201420" fill="norm" stroke="1" extrusionOk="0">
                <a:moveTo>
                  <a:pt x="3314081" y="0"/>
                </a:moveTo>
                <a:lnTo>
                  <a:pt x="2521966" y="1181353"/>
                </a:lnTo>
              </a:path>
            </a:pathLst>
          </a:custGeom>
          <a:ln w="9525">
            <a:solidFill>
              <a:srgbClr val="3C3C3C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2685973" name="bg object 17"/>
          <p:cNvSpPr/>
          <p:nvPr/>
        </p:nvSpPr>
        <p:spPr bwMode="auto">
          <a:xfrm>
            <a:off x="8068690" y="892936"/>
            <a:ext cx="573405" cy="572770"/>
          </a:xfrm>
          <a:custGeom>
            <a:avLst/>
            <a:gdLst/>
            <a:ahLst/>
            <a:cxnLst/>
            <a:rect l="l" t="t" r="r" b="b"/>
            <a:pathLst>
              <a:path w="573404" h="572769" fill="norm" stroke="1" extrusionOk="0">
                <a:moveTo>
                  <a:pt x="286511" y="0"/>
                </a:moveTo>
                <a:lnTo>
                  <a:pt x="240036" y="3745"/>
                </a:lnTo>
                <a:lnTo>
                  <a:pt x="195949" y="14587"/>
                </a:lnTo>
                <a:lnTo>
                  <a:pt x="154840" y="31934"/>
                </a:lnTo>
                <a:lnTo>
                  <a:pt x="117299" y="55193"/>
                </a:lnTo>
                <a:lnTo>
                  <a:pt x="83915" y="83772"/>
                </a:lnTo>
                <a:lnTo>
                  <a:pt x="55278" y="117079"/>
                </a:lnTo>
                <a:lnTo>
                  <a:pt x="31978" y="154523"/>
                </a:lnTo>
                <a:lnTo>
                  <a:pt x="14606" y="195510"/>
                </a:lnTo>
                <a:lnTo>
                  <a:pt x="3749" y="239450"/>
                </a:lnTo>
                <a:lnTo>
                  <a:pt x="0" y="285750"/>
                </a:lnTo>
                <a:lnTo>
                  <a:pt x="3749" y="332256"/>
                </a:lnTo>
                <a:lnTo>
                  <a:pt x="14606" y="376360"/>
                </a:lnTo>
                <a:lnTo>
                  <a:pt x="31978" y="417477"/>
                </a:lnTo>
                <a:lnTo>
                  <a:pt x="55278" y="455017"/>
                </a:lnTo>
                <a:lnTo>
                  <a:pt x="83915" y="488394"/>
                </a:lnTo>
                <a:lnTo>
                  <a:pt x="117299" y="517020"/>
                </a:lnTo>
                <a:lnTo>
                  <a:pt x="154840" y="540307"/>
                </a:lnTo>
                <a:lnTo>
                  <a:pt x="195949" y="557668"/>
                </a:lnTo>
                <a:lnTo>
                  <a:pt x="240036" y="568515"/>
                </a:lnTo>
                <a:lnTo>
                  <a:pt x="286511" y="572262"/>
                </a:lnTo>
                <a:lnTo>
                  <a:pt x="332983" y="568515"/>
                </a:lnTo>
                <a:lnTo>
                  <a:pt x="377060" y="557668"/>
                </a:lnTo>
                <a:lnTo>
                  <a:pt x="418155" y="540307"/>
                </a:lnTo>
                <a:lnTo>
                  <a:pt x="455680" y="517020"/>
                </a:lnTo>
                <a:lnTo>
                  <a:pt x="489045" y="488394"/>
                </a:lnTo>
                <a:lnTo>
                  <a:pt x="517663" y="455017"/>
                </a:lnTo>
                <a:lnTo>
                  <a:pt x="540945" y="417477"/>
                </a:lnTo>
                <a:lnTo>
                  <a:pt x="558304" y="376360"/>
                </a:lnTo>
                <a:lnTo>
                  <a:pt x="569150" y="332256"/>
                </a:lnTo>
                <a:lnTo>
                  <a:pt x="572897" y="285750"/>
                </a:lnTo>
                <a:lnTo>
                  <a:pt x="569150" y="239450"/>
                </a:lnTo>
                <a:lnTo>
                  <a:pt x="558304" y="195510"/>
                </a:lnTo>
                <a:lnTo>
                  <a:pt x="540945" y="154523"/>
                </a:lnTo>
                <a:lnTo>
                  <a:pt x="517663" y="117079"/>
                </a:lnTo>
                <a:lnTo>
                  <a:pt x="489045" y="83772"/>
                </a:lnTo>
                <a:lnTo>
                  <a:pt x="455680" y="55193"/>
                </a:lnTo>
                <a:lnTo>
                  <a:pt x="418155" y="31934"/>
                </a:lnTo>
                <a:lnTo>
                  <a:pt x="377060" y="14587"/>
                </a:lnTo>
                <a:lnTo>
                  <a:pt x="332983" y="3745"/>
                </a:lnTo>
                <a:lnTo>
                  <a:pt x="286511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16281070" name="bg object 18"/>
          <p:cNvSpPr/>
          <p:nvPr/>
        </p:nvSpPr>
        <p:spPr bwMode="auto">
          <a:xfrm>
            <a:off x="8064245" y="887857"/>
            <a:ext cx="582295" cy="582295"/>
          </a:xfrm>
          <a:custGeom>
            <a:avLst/>
            <a:gdLst/>
            <a:ahLst/>
            <a:cxnLst/>
            <a:rect l="l" t="t" r="r" b="b"/>
            <a:pathLst>
              <a:path w="582295" h="582294" fill="norm" stroke="1" extrusionOk="0">
                <a:moveTo>
                  <a:pt x="290956" y="0"/>
                </a:moveTo>
                <a:lnTo>
                  <a:pt x="243801" y="3812"/>
                </a:lnTo>
                <a:lnTo>
                  <a:pt x="199054" y="14847"/>
                </a:lnTo>
                <a:lnTo>
                  <a:pt x="157317" y="32503"/>
                </a:lnTo>
                <a:lnTo>
                  <a:pt x="119192" y="56176"/>
                </a:lnTo>
                <a:lnTo>
                  <a:pt x="85280" y="85264"/>
                </a:lnTo>
                <a:lnTo>
                  <a:pt x="56184" y="119164"/>
                </a:lnTo>
                <a:lnTo>
                  <a:pt x="32506" y="157273"/>
                </a:lnTo>
                <a:lnTo>
                  <a:pt x="14848" y="198989"/>
                </a:lnTo>
                <a:lnTo>
                  <a:pt x="3812" y="243709"/>
                </a:lnTo>
                <a:lnTo>
                  <a:pt x="0" y="290829"/>
                </a:lnTo>
                <a:lnTo>
                  <a:pt x="3812" y="338153"/>
                </a:lnTo>
                <a:lnTo>
                  <a:pt x="14848" y="383028"/>
                </a:lnTo>
                <a:lnTo>
                  <a:pt x="32506" y="424859"/>
                </a:lnTo>
                <a:lnTo>
                  <a:pt x="56184" y="463048"/>
                </a:lnTo>
                <a:lnTo>
                  <a:pt x="85280" y="496998"/>
                </a:lnTo>
                <a:lnTo>
                  <a:pt x="119192" y="526114"/>
                </a:lnTo>
                <a:lnTo>
                  <a:pt x="157317" y="549798"/>
                </a:lnTo>
                <a:lnTo>
                  <a:pt x="199054" y="567454"/>
                </a:lnTo>
                <a:lnTo>
                  <a:pt x="243801" y="578485"/>
                </a:lnTo>
                <a:lnTo>
                  <a:pt x="290956" y="582294"/>
                </a:lnTo>
                <a:lnTo>
                  <a:pt x="338108" y="578485"/>
                </a:lnTo>
                <a:lnTo>
                  <a:pt x="360772" y="572896"/>
                </a:lnTo>
                <a:lnTo>
                  <a:pt x="290956" y="572896"/>
                </a:lnTo>
                <a:lnTo>
                  <a:pt x="234100" y="567142"/>
                </a:lnTo>
                <a:lnTo>
                  <a:pt x="181197" y="550671"/>
                </a:lnTo>
                <a:lnTo>
                  <a:pt x="133294" y="524676"/>
                </a:lnTo>
                <a:lnTo>
                  <a:pt x="91439" y="490346"/>
                </a:lnTo>
                <a:lnTo>
                  <a:pt x="57183" y="448563"/>
                </a:lnTo>
                <a:lnTo>
                  <a:pt x="31226" y="400685"/>
                </a:lnTo>
                <a:lnTo>
                  <a:pt x="14769" y="347757"/>
                </a:lnTo>
                <a:lnTo>
                  <a:pt x="9017" y="290829"/>
                </a:lnTo>
                <a:lnTo>
                  <a:pt x="14769" y="234251"/>
                </a:lnTo>
                <a:lnTo>
                  <a:pt x="31226" y="181387"/>
                </a:lnTo>
                <a:lnTo>
                  <a:pt x="57183" y="133524"/>
                </a:lnTo>
                <a:lnTo>
                  <a:pt x="91439" y="91947"/>
                </a:lnTo>
                <a:lnTo>
                  <a:pt x="133294" y="57423"/>
                </a:lnTo>
                <a:lnTo>
                  <a:pt x="181197" y="31496"/>
                </a:lnTo>
                <a:lnTo>
                  <a:pt x="234100" y="15188"/>
                </a:lnTo>
                <a:lnTo>
                  <a:pt x="290956" y="9525"/>
                </a:lnTo>
                <a:lnTo>
                  <a:pt x="361267" y="9525"/>
                </a:lnTo>
                <a:lnTo>
                  <a:pt x="338108" y="3812"/>
                </a:lnTo>
                <a:lnTo>
                  <a:pt x="290956" y="0"/>
                </a:lnTo>
                <a:close/>
              </a:path>
              <a:path w="582295" h="582294" fill="norm" stroke="1" extrusionOk="0">
                <a:moveTo>
                  <a:pt x="361267" y="9525"/>
                </a:moveTo>
                <a:lnTo>
                  <a:pt x="290956" y="9525"/>
                </a:lnTo>
                <a:lnTo>
                  <a:pt x="347803" y="15188"/>
                </a:lnTo>
                <a:lnTo>
                  <a:pt x="400637" y="31496"/>
                </a:lnTo>
                <a:lnTo>
                  <a:pt x="448351" y="57423"/>
                </a:lnTo>
                <a:lnTo>
                  <a:pt x="489838" y="91947"/>
                </a:lnTo>
                <a:lnTo>
                  <a:pt x="524382" y="133524"/>
                </a:lnTo>
                <a:lnTo>
                  <a:pt x="550354" y="181387"/>
                </a:lnTo>
                <a:lnTo>
                  <a:pt x="566705" y="234251"/>
                </a:lnTo>
                <a:lnTo>
                  <a:pt x="572388" y="290829"/>
                </a:lnTo>
                <a:lnTo>
                  <a:pt x="566705" y="347757"/>
                </a:lnTo>
                <a:lnTo>
                  <a:pt x="550354" y="400685"/>
                </a:lnTo>
                <a:lnTo>
                  <a:pt x="524382" y="448563"/>
                </a:lnTo>
                <a:lnTo>
                  <a:pt x="489838" y="490346"/>
                </a:lnTo>
                <a:lnTo>
                  <a:pt x="448351" y="524676"/>
                </a:lnTo>
                <a:lnTo>
                  <a:pt x="400637" y="550671"/>
                </a:lnTo>
                <a:lnTo>
                  <a:pt x="347803" y="567142"/>
                </a:lnTo>
                <a:lnTo>
                  <a:pt x="290956" y="572896"/>
                </a:lnTo>
                <a:lnTo>
                  <a:pt x="360772" y="572896"/>
                </a:lnTo>
                <a:lnTo>
                  <a:pt x="424569" y="549798"/>
                </a:lnTo>
                <a:lnTo>
                  <a:pt x="462677" y="526114"/>
                </a:lnTo>
                <a:lnTo>
                  <a:pt x="496569" y="496998"/>
                </a:lnTo>
                <a:lnTo>
                  <a:pt x="525646" y="463048"/>
                </a:lnTo>
                <a:lnTo>
                  <a:pt x="549307" y="424859"/>
                </a:lnTo>
                <a:lnTo>
                  <a:pt x="566951" y="383028"/>
                </a:lnTo>
                <a:lnTo>
                  <a:pt x="577978" y="338153"/>
                </a:lnTo>
                <a:lnTo>
                  <a:pt x="581786" y="290829"/>
                </a:lnTo>
                <a:lnTo>
                  <a:pt x="577978" y="243709"/>
                </a:lnTo>
                <a:lnTo>
                  <a:pt x="566951" y="198989"/>
                </a:lnTo>
                <a:lnTo>
                  <a:pt x="549307" y="157273"/>
                </a:lnTo>
                <a:lnTo>
                  <a:pt x="525646" y="119164"/>
                </a:lnTo>
                <a:lnTo>
                  <a:pt x="496569" y="85264"/>
                </a:lnTo>
                <a:lnTo>
                  <a:pt x="462677" y="56176"/>
                </a:lnTo>
                <a:lnTo>
                  <a:pt x="424569" y="32503"/>
                </a:lnTo>
                <a:lnTo>
                  <a:pt x="382846" y="14847"/>
                </a:lnTo>
                <a:lnTo>
                  <a:pt x="361267" y="95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00243150" name="bg object 19"/>
          <p:cNvSpPr/>
          <p:nvPr/>
        </p:nvSpPr>
        <p:spPr bwMode="auto">
          <a:xfrm>
            <a:off x="8141207" y="965327"/>
            <a:ext cx="427990" cy="427990"/>
          </a:xfrm>
          <a:custGeom>
            <a:avLst/>
            <a:gdLst/>
            <a:ahLst/>
            <a:cxnLst/>
            <a:rect l="l" t="t" r="r" b="b"/>
            <a:pathLst>
              <a:path w="427990" h="427990" fill="norm" stroke="1" extrusionOk="0">
                <a:moveTo>
                  <a:pt x="213995" y="0"/>
                </a:moveTo>
                <a:lnTo>
                  <a:pt x="164951" y="5620"/>
                </a:lnTo>
                <a:lnTo>
                  <a:pt x="119918" y="21638"/>
                </a:lnTo>
                <a:lnTo>
                  <a:pt x="80184" y="46786"/>
                </a:lnTo>
                <a:lnTo>
                  <a:pt x="47036" y="79798"/>
                </a:lnTo>
                <a:lnTo>
                  <a:pt x="21764" y="119409"/>
                </a:lnTo>
                <a:lnTo>
                  <a:pt x="5655" y="164352"/>
                </a:lnTo>
                <a:lnTo>
                  <a:pt x="0" y="213360"/>
                </a:lnTo>
                <a:lnTo>
                  <a:pt x="5655" y="262450"/>
                </a:lnTo>
                <a:lnTo>
                  <a:pt x="21764" y="307516"/>
                </a:lnTo>
                <a:lnTo>
                  <a:pt x="47036" y="347274"/>
                </a:lnTo>
                <a:lnTo>
                  <a:pt x="80184" y="380435"/>
                </a:lnTo>
                <a:lnTo>
                  <a:pt x="119918" y="405715"/>
                </a:lnTo>
                <a:lnTo>
                  <a:pt x="164951" y="421825"/>
                </a:lnTo>
                <a:lnTo>
                  <a:pt x="213995" y="427482"/>
                </a:lnTo>
                <a:lnTo>
                  <a:pt x="263038" y="421825"/>
                </a:lnTo>
                <a:lnTo>
                  <a:pt x="308071" y="405715"/>
                </a:lnTo>
                <a:lnTo>
                  <a:pt x="347805" y="380435"/>
                </a:lnTo>
                <a:lnTo>
                  <a:pt x="380953" y="347274"/>
                </a:lnTo>
                <a:lnTo>
                  <a:pt x="406225" y="307516"/>
                </a:lnTo>
                <a:lnTo>
                  <a:pt x="422334" y="262450"/>
                </a:lnTo>
                <a:lnTo>
                  <a:pt x="427990" y="213360"/>
                </a:lnTo>
                <a:lnTo>
                  <a:pt x="422334" y="164352"/>
                </a:lnTo>
                <a:lnTo>
                  <a:pt x="406225" y="119409"/>
                </a:lnTo>
                <a:lnTo>
                  <a:pt x="380953" y="79798"/>
                </a:lnTo>
                <a:lnTo>
                  <a:pt x="347805" y="46786"/>
                </a:lnTo>
                <a:lnTo>
                  <a:pt x="308071" y="21638"/>
                </a:lnTo>
                <a:lnTo>
                  <a:pt x="263038" y="5620"/>
                </a:lnTo>
                <a:lnTo>
                  <a:pt x="2139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16573441" name="bg object 20"/>
          <p:cNvSpPr/>
          <p:nvPr/>
        </p:nvSpPr>
        <p:spPr bwMode="auto">
          <a:xfrm>
            <a:off x="8136762" y="960247"/>
            <a:ext cx="436880" cy="437515"/>
          </a:xfrm>
          <a:custGeom>
            <a:avLst/>
            <a:gdLst/>
            <a:ahLst/>
            <a:cxnLst/>
            <a:rect l="l" t="t" r="r" b="b"/>
            <a:pathLst>
              <a:path w="436879" h="437515" fill="norm" stroke="1" extrusionOk="0">
                <a:moveTo>
                  <a:pt x="218439" y="0"/>
                </a:moveTo>
                <a:lnTo>
                  <a:pt x="168270" y="5788"/>
                </a:lnTo>
                <a:lnTo>
                  <a:pt x="122260" y="22267"/>
                </a:lnTo>
                <a:lnTo>
                  <a:pt x="81706" y="48105"/>
                </a:lnTo>
                <a:lnTo>
                  <a:pt x="47906" y="81973"/>
                </a:lnTo>
                <a:lnTo>
                  <a:pt x="22156" y="122538"/>
                </a:lnTo>
                <a:lnTo>
                  <a:pt x="5755" y="168470"/>
                </a:lnTo>
                <a:lnTo>
                  <a:pt x="0" y="218439"/>
                </a:lnTo>
                <a:lnTo>
                  <a:pt x="5755" y="268684"/>
                </a:lnTo>
                <a:lnTo>
                  <a:pt x="22156" y="314800"/>
                </a:lnTo>
                <a:lnTo>
                  <a:pt x="47906" y="355476"/>
                </a:lnTo>
                <a:lnTo>
                  <a:pt x="81706" y="389399"/>
                </a:lnTo>
                <a:lnTo>
                  <a:pt x="122260" y="415254"/>
                </a:lnTo>
                <a:lnTo>
                  <a:pt x="168270" y="431731"/>
                </a:lnTo>
                <a:lnTo>
                  <a:pt x="218439" y="437514"/>
                </a:lnTo>
                <a:lnTo>
                  <a:pt x="268449" y="431731"/>
                </a:lnTo>
                <a:lnTo>
                  <a:pt x="278882" y="427989"/>
                </a:lnTo>
                <a:lnTo>
                  <a:pt x="218439" y="427989"/>
                </a:lnTo>
                <a:lnTo>
                  <a:pt x="176119" y="423747"/>
                </a:lnTo>
                <a:lnTo>
                  <a:pt x="136763" y="411575"/>
                </a:lnTo>
                <a:lnTo>
                  <a:pt x="101193" y="392306"/>
                </a:lnTo>
                <a:lnTo>
                  <a:pt x="70230" y="366775"/>
                </a:lnTo>
                <a:lnTo>
                  <a:pt x="44626" y="335740"/>
                </a:lnTo>
                <a:lnTo>
                  <a:pt x="25320" y="300132"/>
                </a:lnTo>
                <a:lnTo>
                  <a:pt x="13134" y="260762"/>
                </a:lnTo>
                <a:lnTo>
                  <a:pt x="8889" y="218439"/>
                </a:lnTo>
                <a:lnTo>
                  <a:pt x="13134" y="176539"/>
                </a:lnTo>
                <a:lnTo>
                  <a:pt x="25320" y="137366"/>
                </a:lnTo>
                <a:lnTo>
                  <a:pt x="44626" y="101836"/>
                </a:lnTo>
                <a:lnTo>
                  <a:pt x="70230" y="70865"/>
                </a:lnTo>
                <a:lnTo>
                  <a:pt x="101193" y="45261"/>
                </a:lnTo>
                <a:lnTo>
                  <a:pt x="136763" y="25955"/>
                </a:lnTo>
                <a:lnTo>
                  <a:pt x="176119" y="13769"/>
                </a:lnTo>
                <a:lnTo>
                  <a:pt x="218439" y="9525"/>
                </a:lnTo>
                <a:lnTo>
                  <a:pt x="278867" y="9525"/>
                </a:lnTo>
                <a:lnTo>
                  <a:pt x="268449" y="5788"/>
                </a:lnTo>
                <a:lnTo>
                  <a:pt x="218439" y="0"/>
                </a:lnTo>
                <a:close/>
              </a:path>
              <a:path w="436879" h="437515" fill="norm" stroke="1" extrusionOk="0">
                <a:moveTo>
                  <a:pt x="278867" y="9525"/>
                </a:moveTo>
                <a:lnTo>
                  <a:pt x="218439" y="9525"/>
                </a:lnTo>
                <a:lnTo>
                  <a:pt x="260609" y="13769"/>
                </a:lnTo>
                <a:lnTo>
                  <a:pt x="299767" y="25955"/>
                </a:lnTo>
                <a:lnTo>
                  <a:pt x="335186" y="45261"/>
                </a:lnTo>
                <a:lnTo>
                  <a:pt x="366140" y="70865"/>
                </a:lnTo>
                <a:lnTo>
                  <a:pt x="391671" y="101836"/>
                </a:lnTo>
                <a:lnTo>
                  <a:pt x="410940" y="137366"/>
                </a:lnTo>
                <a:lnTo>
                  <a:pt x="423112" y="176539"/>
                </a:lnTo>
                <a:lnTo>
                  <a:pt x="427354" y="218439"/>
                </a:lnTo>
                <a:lnTo>
                  <a:pt x="423112" y="260762"/>
                </a:lnTo>
                <a:lnTo>
                  <a:pt x="410940" y="300132"/>
                </a:lnTo>
                <a:lnTo>
                  <a:pt x="391671" y="335740"/>
                </a:lnTo>
                <a:lnTo>
                  <a:pt x="366140" y="366775"/>
                </a:lnTo>
                <a:lnTo>
                  <a:pt x="335186" y="392306"/>
                </a:lnTo>
                <a:lnTo>
                  <a:pt x="299767" y="411575"/>
                </a:lnTo>
                <a:lnTo>
                  <a:pt x="260609" y="423747"/>
                </a:lnTo>
                <a:lnTo>
                  <a:pt x="218439" y="427989"/>
                </a:lnTo>
                <a:lnTo>
                  <a:pt x="278882" y="427989"/>
                </a:lnTo>
                <a:lnTo>
                  <a:pt x="354960" y="389399"/>
                </a:lnTo>
                <a:lnTo>
                  <a:pt x="388814" y="355476"/>
                </a:lnTo>
                <a:lnTo>
                  <a:pt x="414634" y="314800"/>
                </a:lnTo>
                <a:lnTo>
                  <a:pt x="431097" y="268684"/>
                </a:lnTo>
                <a:lnTo>
                  <a:pt x="436879" y="218439"/>
                </a:lnTo>
                <a:lnTo>
                  <a:pt x="431097" y="168470"/>
                </a:lnTo>
                <a:lnTo>
                  <a:pt x="414634" y="122538"/>
                </a:lnTo>
                <a:lnTo>
                  <a:pt x="388814" y="81973"/>
                </a:lnTo>
                <a:lnTo>
                  <a:pt x="354960" y="48105"/>
                </a:lnTo>
                <a:lnTo>
                  <a:pt x="314397" y="22267"/>
                </a:lnTo>
                <a:lnTo>
                  <a:pt x="278867" y="95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6929359" name="bg object 21"/>
          <p:cNvSpPr/>
          <p:nvPr/>
        </p:nvSpPr>
        <p:spPr bwMode="auto">
          <a:xfrm>
            <a:off x="8219820" y="1043938"/>
            <a:ext cx="270510" cy="270510"/>
          </a:xfrm>
          <a:custGeom>
            <a:avLst/>
            <a:gdLst/>
            <a:ahLst/>
            <a:cxnLst/>
            <a:rect l="l" t="t" r="r" b="b"/>
            <a:pathLst>
              <a:path w="270509" h="270509" fill="norm" stroke="1" extrusionOk="0">
                <a:moveTo>
                  <a:pt x="135381" y="0"/>
                </a:moveTo>
                <a:lnTo>
                  <a:pt x="92626" y="6905"/>
                </a:lnTo>
                <a:lnTo>
                  <a:pt x="55467" y="26107"/>
                </a:lnTo>
                <a:lnTo>
                  <a:pt x="26147" y="55330"/>
                </a:lnTo>
                <a:lnTo>
                  <a:pt x="6910" y="92301"/>
                </a:lnTo>
                <a:lnTo>
                  <a:pt x="0" y="134747"/>
                </a:lnTo>
                <a:lnTo>
                  <a:pt x="6910" y="177515"/>
                </a:lnTo>
                <a:lnTo>
                  <a:pt x="26147" y="214706"/>
                </a:lnTo>
                <a:lnTo>
                  <a:pt x="55467" y="244063"/>
                </a:lnTo>
                <a:lnTo>
                  <a:pt x="92626" y="263331"/>
                </a:lnTo>
                <a:lnTo>
                  <a:pt x="135381" y="270256"/>
                </a:lnTo>
                <a:lnTo>
                  <a:pt x="178084" y="263331"/>
                </a:lnTo>
                <a:lnTo>
                  <a:pt x="215117" y="244063"/>
                </a:lnTo>
                <a:lnTo>
                  <a:pt x="244287" y="214706"/>
                </a:lnTo>
                <a:lnTo>
                  <a:pt x="263398" y="177515"/>
                </a:lnTo>
                <a:lnTo>
                  <a:pt x="270255" y="134747"/>
                </a:lnTo>
                <a:lnTo>
                  <a:pt x="263398" y="92301"/>
                </a:lnTo>
                <a:lnTo>
                  <a:pt x="244287" y="55330"/>
                </a:lnTo>
                <a:lnTo>
                  <a:pt x="215117" y="26107"/>
                </a:lnTo>
                <a:lnTo>
                  <a:pt x="178084" y="6905"/>
                </a:lnTo>
                <a:lnTo>
                  <a:pt x="135381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64508775" name="bg object 22"/>
          <p:cNvSpPr/>
          <p:nvPr/>
        </p:nvSpPr>
        <p:spPr bwMode="auto">
          <a:xfrm>
            <a:off x="8215375" y="1039494"/>
            <a:ext cx="280035" cy="279400"/>
          </a:xfrm>
          <a:custGeom>
            <a:avLst/>
            <a:gdLst/>
            <a:ahLst/>
            <a:cxnLst/>
            <a:rect l="l" t="t" r="r" b="b"/>
            <a:pathLst>
              <a:path w="280034" h="279400" fill="norm" stroke="1" extrusionOk="0">
                <a:moveTo>
                  <a:pt x="139826" y="0"/>
                </a:moveTo>
                <a:lnTo>
                  <a:pt x="95536" y="7099"/>
                </a:lnTo>
                <a:lnTo>
                  <a:pt x="57140" y="26867"/>
                </a:lnTo>
                <a:lnTo>
                  <a:pt x="26907" y="57003"/>
                </a:lnTo>
                <a:lnTo>
                  <a:pt x="7104" y="95211"/>
                </a:lnTo>
                <a:lnTo>
                  <a:pt x="0" y="139191"/>
                </a:lnTo>
                <a:lnTo>
                  <a:pt x="7104" y="183544"/>
                </a:lnTo>
                <a:lnTo>
                  <a:pt x="26907" y="221977"/>
                </a:lnTo>
                <a:lnTo>
                  <a:pt x="57140" y="252230"/>
                </a:lnTo>
                <a:lnTo>
                  <a:pt x="95536" y="272040"/>
                </a:lnTo>
                <a:lnTo>
                  <a:pt x="139826" y="279145"/>
                </a:lnTo>
                <a:lnTo>
                  <a:pt x="183873" y="272040"/>
                </a:lnTo>
                <a:lnTo>
                  <a:pt x="188558" y="269620"/>
                </a:lnTo>
                <a:lnTo>
                  <a:pt x="139826" y="269620"/>
                </a:lnTo>
                <a:lnTo>
                  <a:pt x="113466" y="266993"/>
                </a:lnTo>
                <a:lnTo>
                  <a:pt x="66746" y="247546"/>
                </a:lnTo>
                <a:lnTo>
                  <a:pt x="31472" y="212558"/>
                </a:lnTo>
                <a:lnTo>
                  <a:pt x="12025" y="165695"/>
                </a:lnTo>
                <a:lnTo>
                  <a:pt x="9398" y="139191"/>
                </a:lnTo>
                <a:lnTo>
                  <a:pt x="12025" y="113127"/>
                </a:lnTo>
                <a:lnTo>
                  <a:pt x="31472" y="66522"/>
                </a:lnTo>
                <a:lnTo>
                  <a:pt x="66746" y="31178"/>
                </a:lnTo>
                <a:lnTo>
                  <a:pt x="113466" y="11525"/>
                </a:lnTo>
                <a:lnTo>
                  <a:pt x="139826" y="8889"/>
                </a:lnTo>
                <a:lnTo>
                  <a:pt x="187348" y="8889"/>
                </a:lnTo>
                <a:lnTo>
                  <a:pt x="183873" y="7099"/>
                </a:lnTo>
                <a:lnTo>
                  <a:pt x="139826" y="0"/>
                </a:lnTo>
                <a:close/>
              </a:path>
              <a:path w="280034" h="279400" fill="norm" stroke="1" extrusionOk="0">
                <a:moveTo>
                  <a:pt x="187348" y="8889"/>
                </a:moveTo>
                <a:lnTo>
                  <a:pt x="139826" y="8889"/>
                </a:lnTo>
                <a:lnTo>
                  <a:pt x="166177" y="11525"/>
                </a:lnTo>
                <a:lnTo>
                  <a:pt x="190611" y="19113"/>
                </a:lnTo>
                <a:lnTo>
                  <a:pt x="231775" y="47243"/>
                </a:lnTo>
                <a:lnTo>
                  <a:pt x="260016" y="88693"/>
                </a:lnTo>
                <a:lnTo>
                  <a:pt x="270255" y="139191"/>
                </a:lnTo>
                <a:lnTo>
                  <a:pt x="267618" y="165695"/>
                </a:lnTo>
                <a:lnTo>
                  <a:pt x="247913" y="212558"/>
                </a:lnTo>
                <a:lnTo>
                  <a:pt x="212639" y="247546"/>
                </a:lnTo>
                <a:lnTo>
                  <a:pt x="166177" y="266993"/>
                </a:lnTo>
                <a:lnTo>
                  <a:pt x="139826" y="269620"/>
                </a:lnTo>
                <a:lnTo>
                  <a:pt x="188558" y="269620"/>
                </a:lnTo>
                <a:lnTo>
                  <a:pt x="222238" y="252230"/>
                </a:lnTo>
                <a:lnTo>
                  <a:pt x="252563" y="221977"/>
                </a:lnTo>
                <a:lnTo>
                  <a:pt x="272488" y="183544"/>
                </a:lnTo>
                <a:lnTo>
                  <a:pt x="279653" y="139191"/>
                </a:lnTo>
                <a:lnTo>
                  <a:pt x="272488" y="95211"/>
                </a:lnTo>
                <a:lnTo>
                  <a:pt x="252563" y="57003"/>
                </a:lnTo>
                <a:lnTo>
                  <a:pt x="222238" y="26867"/>
                </a:lnTo>
                <a:lnTo>
                  <a:pt x="187348" y="8889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6750651" name="bg object 23"/>
          <p:cNvSpPr/>
          <p:nvPr/>
        </p:nvSpPr>
        <p:spPr bwMode="auto">
          <a:xfrm>
            <a:off x="7358125" y="321309"/>
            <a:ext cx="282575" cy="282575"/>
          </a:xfrm>
          <a:custGeom>
            <a:avLst/>
            <a:gdLst/>
            <a:ahLst/>
            <a:cxnLst/>
            <a:rect l="l" t="t" r="r" b="b"/>
            <a:pathLst>
              <a:path w="282575" h="282575" fill="norm" stroke="1" extrusionOk="0">
                <a:moveTo>
                  <a:pt x="140970" y="0"/>
                </a:moveTo>
                <a:lnTo>
                  <a:pt x="96316" y="7174"/>
                </a:lnTo>
                <a:lnTo>
                  <a:pt x="57607" y="27163"/>
                </a:lnTo>
                <a:lnTo>
                  <a:pt x="27127" y="57662"/>
                </a:lnTo>
                <a:lnTo>
                  <a:pt x="7162" y="96365"/>
                </a:lnTo>
                <a:lnTo>
                  <a:pt x="0" y="140969"/>
                </a:lnTo>
                <a:lnTo>
                  <a:pt x="7162" y="185884"/>
                </a:lnTo>
                <a:lnTo>
                  <a:pt x="27127" y="224775"/>
                </a:lnTo>
                <a:lnTo>
                  <a:pt x="57607" y="255370"/>
                </a:lnTo>
                <a:lnTo>
                  <a:pt x="96316" y="275394"/>
                </a:lnTo>
                <a:lnTo>
                  <a:pt x="140970" y="282575"/>
                </a:lnTo>
                <a:lnTo>
                  <a:pt x="185871" y="275394"/>
                </a:lnTo>
                <a:lnTo>
                  <a:pt x="224731" y="255370"/>
                </a:lnTo>
                <a:lnTo>
                  <a:pt x="255288" y="224775"/>
                </a:lnTo>
                <a:lnTo>
                  <a:pt x="275281" y="185884"/>
                </a:lnTo>
                <a:lnTo>
                  <a:pt x="282448" y="140969"/>
                </a:lnTo>
                <a:lnTo>
                  <a:pt x="275281" y="96365"/>
                </a:lnTo>
                <a:lnTo>
                  <a:pt x="255288" y="57662"/>
                </a:lnTo>
                <a:lnTo>
                  <a:pt x="224731" y="27163"/>
                </a:lnTo>
                <a:lnTo>
                  <a:pt x="185871" y="7174"/>
                </a:lnTo>
                <a:lnTo>
                  <a:pt x="14097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1580298" name="bg object 24"/>
          <p:cNvSpPr/>
          <p:nvPr/>
        </p:nvSpPr>
        <p:spPr bwMode="auto">
          <a:xfrm>
            <a:off x="7353045" y="316229"/>
            <a:ext cx="292100" cy="292735"/>
          </a:xfrm>
          <a:custGeom>
            <a:avLst/>
            <a:gdLst/>
            <a:ahLst/>
            <a:cxnLst/>
            <a:rect l="l" t="t" r="r" b="b"/>
            <a:pathLst>
              <a:path w="292100" h="292734" fill="norm" stroke="1" extrusionOk="0">
                <a:moveTo>
                  <a:pt x="146050" y="0"/>
                </a:moveTo>
                <a:lnTo>
                  <a:pt x="100039" y="7483"/>
                </a:lnTo>
                <a:lnTo>
                  <a:pt x="59966" y="28293"/>
                </a:lnTo>
                <a:lnTo>
                  <a:pt x="28293" y="59966"/>
                </a:lnTo>
                <a:lnTo>
                  <a:pt x="7483" y="100039"/>
                </a:lnTo>
                <a:lnTo>
                  <a:pt x="0" y="146050"/>
                </a:lnTo>
                <a:lnTo>
                  <a:pt x="7483" y="192308"/>
                </a:lnTo>
                <a:lnTo>
                  <a:pt x="28293" y="232531"/>
                </a:lnTo>
                <a:lnTo>
                  <a:pt x="59966" y="264281"/>
                </a:lnTo>
                <a:lnTo>
                  <a:pt x="100039" y="285120"/>
                </a:lnTo>
                <a:lnTo>
                  <a:pt x="146050" y="292608"/>
                </a:lnTo>
                <a:lnTo>
                  <a:pt x="192242" y="285120"/>
                </a:lnTo>
                <a:lnTo>
                  <a:pt x="196159" y="283083"/>
                </a:lnTo>
                <a:lnTo>
                  <a:pt x="146050" y="283083"/>
                </a:lnTo>
                <a:lnTo>
                  <a:pt x="118683" y="280261"/>
                </a:lnTo>
                <a:lnTo>
                  <a:pt x="69808" y="259615"/>
                </a:lnTo>
                <a:lnTo>
                  <a:pt x="32777" y="222845"/>
                </a:lnTo>
                <a:lnTo>
                  <a:pt x="12259" y="173712"/>
                </a:lnTo>
                <a:lnTo>
                  <a:pt x="9525" y="146050"/>
                </a:lnTo>
                <a:lnTo>
                  <a:pt x="12259" y="118683"/>
                </a:lnTo>
                <a:lnTo>
                  <a:pt x="32777" y="69808"/>
                </a:lnTo>
                <a:lnTo>
                  <a:pt x="69808" y="32777"/>
                </a:lnTo>
                <a:lnTo>
                  <a:pt x="118683" y="12259"/>
                </a:lnTo>
                <a:lnTo>
                  <a:pt x="146050" y="9525"/>
                </a:lnTo>
                <a:lnTo>
                  <a:pt x="196172" y="9525"/>
                </a:lnTo>
                <a:lnTo>
                  <a:pt x="192242" y="7483"/>
                </a:lnTo>
                <a:lnTo>
                  <a:pt x="146050" y="0"/>
                </a:lnTo>
                <a:close/>
              </a:path>
              <a:path w="292100" h="292734" fill="norm" stroke="1" extrusionOk="0">
                <a:moveTo>
                  <a:pt x="196172" y="9525"/>
                </a:moveTo>
                <a:lnTo>
                  <a:pt x="146050" y="9525"/>
                </a:lnTo>
                <a:lnTo>
                  <a:pt x="173638" y="12259"/>
                </a:lnTo>
                <a:lnTo>
                  <a:pt x="199310" y="20161"/>
                </a:lnTo>
                <a:lnTo>
                  <a:pt x="242950" y="49657"/>
                </a:lnTo>
                <a:lnTo>
                  <a:pt x="272208" y="93043"/>
                </a:lnTo>
                <a:lnTo>
                  <a:pt x="283082" y="146050"/>
                </a:lnTo>
                <a:lnTo>
                  <a:pt x="280259" y="173712"/>
                </a:lnTo>
                <a:lnTo>
                  <a:pt x="259562" y="222845"/>
                </a:lnTo>
                <a:lnTo>
                  <a:pt x="222577" y="259615"/>
                </a:lnTo>
                <a:lnTo>
                  <a:pt x="173638" y="280261"/>
                </a:lnTo>
                <a:lnTo>
                  <a:pt x="146050" y="283083"/>
                </a:lnTo>
                <a:lnTo>
                  <a:pt x="196159" y="283083"/>
                </a:lnTo>
                <a:lnTo>
                  <a:pt x="232308" y="264281"/>
                </a:lnTo>
                <a:lnTo>
                  <a:pt x="263870" y="232531"/>
                </a:lnTo>
                <a:lnTo>
                  <a:pt x="284551" y="192308"/>
                </a:lnTo>
                <a:lnTo>
                  <a:pt x="291973" y="146050"/>
                </a:lnTo>
                <a:lnTo>
                  <a:pt x="284551" y="100039"/>
                </a:lnTo>
                <a:lnTo>
                  <a:pt x="263870" y="59966"/>
                </a:lnTo>
                <a:lnTo>
                  <a:pt x="232308" y="28293"/>
                </a:lnTo>
                <a:lnTo>
                  <a:pt x="196172" y="95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409199799" name="bg object 25"/>
          <p:cNvPicPr/>
          <p:nvPr/>
        </p:nvPicPr>
        <p:blipFill rotWithShape="1">
          <a:blip r:embed="rId2"/>
          <a:stretch/>
        </p:blipFill>
        <p:spPr bwMode="auto">
          <a:xfrm>
            <a:off x="7415529" y="378713"/>
            <a:ext cx="167640" cy="167766"/>
          </a:xfrm>
          <a:prstGeom prst="rect">
            <a:avLst/>
          </a:prstGeom>
        </p:spPr>
      </p:pic>
      <p:sp>
        <p:nvSpPr>
          <p:cNvPr id="1620088229" name="bg object 26"/>
          <p:cNvSpPr/>
          <p:nvPr/>
        </p:nvSpPr>
        <p:spPr bwMode="auto">
          <a:xfrm>
            <a:off x="5690615" y="425830"/>
            <a:ext cx="288924" cy="288290"/>
          </a:xfrm>
          <a:custGeom>
            <a:avLst/>
            <a:gdLst/>
            <a:ahLst/>
            <a:cxnLst/>
            <a:rect l="l" t="t" r="r" b="b"/>
            <a:pathLst>
              <a:path w="288925" h="288290" fill="norm" stroke="1" extrusionOk="0">
                <a:moveTo>
                  <a:pt x="144272" y="0"/>
                </a:moveTo>
                <a:lnTo>
                  <a:pt x="98641" y="7345"/>
                </a:lnTo>
                <a:lnTo>
                  <a:pt x="59033" y="27797"/>
                </a:lnTo>
                <a:lnTo>
                  <a:pt x="27814" y="58978"/>
                </a:lnTo>
                <a:lnTo>
                  <a:pt x="7347" y="98511"/>
                </a:lnTo>
                <a:lnTo>
                  <a:pt x="0" y="144018"/>
                </a:lnTo>
                <a:lnTo>
                  <a:pt x="7347" y="189648"/>
                </a:lnTo>
                <a:lnTo>
                  <a:pt x="27814" y="229256"/>
                </a:lnTo>
                <a:lnTo>
                  <a:pt x="59033" y="260475"/>
                </a:lnTo>
                <a:lnTo>
                  <a:pt x="98641" y="280942"/>
                </a:lnTo>
                <a:lnTo>
                  <a:pt x="144272" y="288290"/>
                </a:lnTo>
                <a:lnTo>
                  <a:pt x="189902" y="280942"/>
                </a:lnTo>
                <a:lnTo>
                  <a:pt x="229510" y="260475"/>
                </a:lnTo>
                <a:lnTo>
                  <a:pt x="260729" y="229256"/>
                </a:lnTo>
                <a:lnTo>
                  <a:pt x="281196" y="189648"/>
                </a:lnTo>
                <a:lnTo>
                  <a:pt x="288544" y="144018"/>
                </a:lnTo>
                <a:lnTo>
                  <a:pt x="281196" y="98511"/>
                </a:lnTo>
                <a:lnTo>
                  <a:pt x="260729" y="58978"/>
                </a:lnTo>
                <a:lnTo>
                  <a:pt x="229510" y="27797"/>
                </a:lnTo>
                <a:lnTo>
                  <a:pt x="189902" y="7345"/>
                </a:lnTo>
                <a:lnTo>
                  <a:pt x="144272" y="0"/>
                </a:lnTo>
                <a:close/>
              </a:path>
            </a:pathLst>
          </a:custGeom>
          <a:solidFill>
            <a:srgbClr val="01ABA9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6204798" name="bg object 27"/>
          <p:cNvSpPr/>
          <p:nvPr/>
        </p:nvSpPr>
        <p:spPr bwMode="auto">
          <a:xfrm>
            <a:off x="5688329" y="423291"/>
            <a:ext cx="293370" cy="293370"/>
          </a:xfrm>
          <a:custGeom>
            <a:avLst/>
            <a:gdLst/>
            <a:ahLst/>
            <a:cxnLst/>
            <a:rect l="l" t="t" r="r" b="b"/>
            <a:pathLst>
              <a:path w="293370" h="293370" fill="norm" stroke="1" extrusionOk="0">
                <a:moveTo>
                  <a:pt x="146558" y="0"/>
                </a:moveTo>
                <a:lnTo>
                  <a:pt x="100250" y="7475"/>
                </a:lnTo>
                <a:lnTo>
                  <a:pt x="60021" y="28289"/>
                </a:lnTo>
                <a:lnTo>
                  <a:pt x="28289" y="60021"/>
                </a:lnTo>
                <a:lnTo>
                  <a:pt x="7475" y="100250"/>
                </a:lnTo>
                <a:lnTo>
                  <a:pt x="0" y="146558"/>
                </a:lnTo>
                <a:lnTo>
                  <a:pt x="7475" y="192989"/>
                </a:lnTo>
                <a:lnTo>
                  <a:pt x="28289" y="233293"/>
                </a:lnTo>
                <a:lnTo>
                  <a:pt x="60021" y="265064"/>
                </a:lnTo>
                <a:lnTo>
                  <a:pt x="100250" y="285892"/>
                </a:lnTo>
                <a:lnTo>
                  <a:pt x="146558" y="293370"/>
                </a:lnTo>
                <a:lnTo>
                  <a:pt x="176443" y="288544"/>
                </a:lnTo>
                <a:lnTo>
                  <a:pt x="146558" y="288544"/>
                </a:lnTo>
                <a:lnTo>
                  <a:pt x="117931" y="285644"/>
                </a:lnTo>
                <a:lnTo>
                  <a:pt x="67155" y="264273"/>
                </a:lnTo>
                <a:lnTo>
                  <a:pt x="28769" y="225960"/>
                </a:lnTo>
                <a:lnTo>
                  <a:pt x="7346" y="175184"/>
                </a:lnTo>
                <a:lnTo>
                  <a:pt x="4445" y="146558"/>
                </a:lnTo>
                <a:lnTo>
                  <a:pt x="7346" y="118042"/>
                </a:lnTo>
                <a:lnTo>
                  <a:pt x="28769" y="67298"/>
                </a:lnTo>
                <a:lnTo>
                  <a:pt x="67155" y="28936"/>
                </a:lnTo>
                <a:lnTo>
                  <a:pt x="117931" y="7671"/>
                </a:lnTo>
                <a:lnTo>
                  <a:pt x="146558" y="4825"/>
                </a:lnTo>
                <a:lnTo>
                  <a:pt x="176451" y="4825"/>
                </a:lnTo>
                <a:lnTo>
                  <a:pt x="146558" y="0"/>
                </a:lnTo>
                <a:close/>
              </a:path>
              <a:path w="293370" h="293370" fill="norm" stroke="1" extrusionOk="0">
                <a:moveTo>
                  <a:pt x="176451" y="4825"/>
                </a:moveTo>
                <a:lnTo>
                  <a:pt x="146558" y="4825"/>
                </a:lnTo>
                <a:lnTo>
                  <a:pt x="175180" y="7671"/>
                </a:lnTo>
                <a:lnTo>
                  <a:pt x="201802" y="15875"/>
                </a:lnTo>
                <a:lnTo>
                  <a:pt x="246761" y="46355"/>
                </a:lnTo>
                <a:lnTo>
                  <a:pt x="277241" y="91408"/>
                </a:lnTo>
                <a:lnTo>
                  <a:pt x="288290" y="146558"/>
                </a:lnTo>
                <a:lnTo>
                  <a:pt x="285444" y="175184"/>
                </a:lnTo>
                <a:lnTo>
                  <a:pt x="264179" y="225960"/>
                </a:lnTo>
                <a:lnTo>
                  <a:pt x="225853" y="264273"/>
                </a:lnTo>
                <a:lnTo>
                  <a:pt x="175180" y="285644"/>
                </a:lnTo>
                <a:lnTo>
                  <a:pt x="146558" y="288544"/>
                </a:lnTo>
                <a:lnTo>
                  <a:pt x="176443" y="288544"/>
                </a:lnTo>
                <a:lnTo>
                  <a:pt x="233094" y="265064"/>
                </a:lnTo>
                <a:lnTo>
                  <a:pt x="264826" y="233293"/>
                </a:lnTo>
                <a:lnTo>
                  <a:pt x="285640" y="192989"/>
                </a:lnTo>
                <a:lnTo>
                  <a:pt x="293116" y="146558"/>
                </a:lnTo>
                <a:lnTo>
                  <a:pt x="285640" y="100250"/>
                </a:lnTo>
                <a:lnTo>
                  <a:pt x="264826" y="60021"/>
                </a:lnTo>
                <a:lnTo>
                  <a:pt x="233094" y="28289"/>
                </a:lnTo>
                <a:lnTo>
                  <a:pt x="192865" y="7475"/>
                </a:lnTo>
                <a:lnTo>
                  <a:pt x="176451" y="4825"/>
                </a:lnTo>
                <a:close/>
              </a:path>
            </a:pathLst>
          </a:custGeom>
          <a:solidFill>
            <a:srgbClr val="3C3C3C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pic>
        <p:nvPicPr>
          <p:cNvPr id="1268286373" name="bg object 28"/>
          <p:cNvPicPr/>
          <p:nvPr/>
        </p:nvPicPr>
        <p:blipFill rotWithShape="1">
          <a:blip r:embed="rId3"/>
          <a:stretch/>
        </p:blipFill>
        <p:spPr bwMode="auto">
          <a:xfrm>
            <a:off x="5724778" y="459740"/>
            <a:ext cx="220218" cy="220472"/>
          </a:xfrm>
          <a:prstGeom prst="rect">
            <a:avLst/>
          </a:prstGeom>
        </p:spPr>
      </p:pic>
      <p:pic>
        <p:nvPicPr>
          <p:cNvPr id="1287153593" name="bg object 29"/>
          <p:cNvPicPr/>
          <p:nvPr/>
        </p:nvPicPr>
        <p:blipFill rotWithShape="1">
          <a:blip r:embed="rId4"/>
          <a:stretch/>
        </p:blipFill>
        <p:spPr bwMode="auto">
          <a:xfrm>
            <a:off x="2706116" y="249707"/>
            <a:ext cx="1294383" cy="482447"/>
          </a:xfrm>
          <a:prstGeom prst="rect">
            <a:avLst/>
          </a:prstGeom>
        </p:spPr>
      </p:pic>
      <p:pic>
        <p:nvPicPr>
          <p:cNvPr id="1755675323" name="bg object 30"/>
          <p:cNvPicPr/>
          <p:nvPr/>
        </p:nvPicPr>
        <p:blipFill rotWithShape="1">
          <a:blip r:embed="rId5"/>
          <a:stretch/>
        </p:blipFill>
        <p:spPr bwMode="auto">
          <a:xfrm>
            <a:off x="172109" y="158939"/>
            <a:ext cx="894465" cy="899052"/>
          </a:xfrm>
          <a:prstGeom prst="rect">
            <a:avLst/>
          </a:prstGeom>
        </p:spPr>
      </p:pic>
      <p:pic>
        <p:nvPicPr>
          <p:cNvPr id="1346760904" name="bg object 31"/>
          <p:cNvPicPr/>
          <p:nvPr/>
        </p:nvPicPr>
        <p:blipFill rotWithShape="1">
          <a:blip r:embed="rId6"/>
          <a:stretch/>
        </p:blipFill>
        <p:spPr bwMode="auto">
          <a:xfrm>
            <a:off x="984592" y="152158"/>
            <a:ext cx="1606169" cy="903465"/>
          </a:xfrm>
          <a:prstGeom prst="rect">
            <a:avLst/>
          </a:prstGeom>
        </p:spPr>
      </p:pic>
      <p:sp>
        <p:nvSpPr>
          <p:cNvPr id="152784942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879568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43568238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817814" name="Holder 2"/>
          <p:cNvSpPr>
            <a:spLocks noGrp="1"/>
          </p:cNvSpPr>
          <p:nvPr>
            <p:ph type="title"/>
          </p:nvPr>
        </p:nvSpPr>
        <p:spPr bwMode="auto">
          <a:xfrm>
            <a:off x="2015489" y="347599"/>
            <a:ext cx="6430644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484848"/>
                </a:solidFill>
                <a:latin typeface="Century Gothic"/>
                <a:cs typeface="Century Gothic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9982089" name="Holder 3"/>
          <p:cNvSpPr>
            <a:spLocks noGrp="1"/>
          </p:cNvSpPr>
          <p:nvPr>
            <p:ph type="body" idx="1"/>
          </p:nvPr>
        </p:nvSpPr>
        <p:spPr bwMode="auto">
          <a:xfrm>
            <a:off x="3939413" y="1301140"/>
            <a:ext cx="4119879" cy="32753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470875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896896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26938997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#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2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174509" name="object 2"/>
          <p:cNvSpPr txBox="1"/>
          <p:nvPr/>
        </p:nvSpPr>
        <p:spPr bwMode="auto">
          <a:xfrm>
            <a:off x="2368423" y="763905"/>
            <a:ext cx="1977389" cy="36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1590" algn="ctr">
              <a:lnSpc>
                <a:spcPct val="100000"/>
              </a:lnSpc>
              <a:spcBef>
                <a:spcPts val="105"/>
              </a:spcBef>
              <a:defRPr/>
            </a:pPr>
            <a:r>
              <a:rPr sz="1100" spc="-150">
                <a:solidFill>
                  <a:srgbClr val="484848"/>
                </a:solidFill>
                <a:latin typeface="Century Gothic"/>
                <a:cs typeface="Century Gothic"/>
              </a:rPr>
              <a:t>Hardware</a:t>
            </a:r>
            <a:r>
              <a:rPr sz="1100" spc="-3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1100" spc="-85">
                <a:solidFill>
                  <a:srgbClr val="484848"/>
                </a:solidFill>
                <a:latin typeface="Century Gothic"/>
                <a:cs typeface="Century Gothic"/>
              </a:rPr>
              <a:t>Assisted</a:t>
            </a:r>
            <a:r>
              <a:rPr sz="110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1100" spc="-25">
                <a:solidFill>
                  <a:srgbClr val="484848"/>
                </a:solidFill>
                <a:latin typeface="Century Gothic"/>
                <a:cs typeface="Century Gothic"/>
              </a:rPr>
              <a:t>and</a:t>
            </a:r>
            <a:endParaRPr sz="1100">
              <a:latin typeface="Century Gothic"/>
              <a:cs typeface="Century Gothic"/>
            </a:endParaRPr>
          </a:p>
          <a:p>
            <a:pPr algn="ctr">
              <a:lnSpc>
                <a:spcPct val="100000"/>
              </a:lnSpc>
              <a:defRPr/>
            </a:pPr>
            <a:r>
              <a:rPr sz="1100" spc="-135">
                <a:solidFill>
                  <a:srgbClr val="484848"/>
                </a:solidFill>
                <a:latin typeface="Century Gothic"/>
                <a:cs typeface="Century Gothic"/>
              </a:rPr>
              <a:t>Blockchain</a:t>
            </a:r>
            <a:r>
              <a:rPr sz="1100" spc="-45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1100" spc="-185">
                <a:solidFill>
                  <a:srgbClr val="484848"/>
                </a:solidFill>
                <a:latin typeface="Century Gothic"/>
                <a:cs typeface="Century Gothic"/>
              </a:rPr>
              <a:t>Empowered</a:t>
            </a:r>
            <a:r>
              <a:rPr sz="1100" spc="3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1100" spc="-85">
                <a:solidFill>
                  <a:srgbClr val="484848"/>
                </a:solidFill>
                <a:latin typeface="Century Gothic"/>
                <a:cs typeface="Century Gothic"/>
              </a:rPr>
              <a:t>Security</a:t>
            </a:r>
            <a:r>
              <a:rPr sz="110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1100" spc="-85">
                <a:solidFill>
                  <a:srgbClr val="484848"/>
                </a:solidFill>
                <a:latin typeface="Century Gothic"/>
                <a:cs typeface="Century Gothic"/>
              </a:rPr>
              <a:t>Lab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225131759" name="object 3"/>
          <p:cNvSpPr txBox="1"/>
          <p:nvPr/>
        </p:nvSpPr>
        <p:spPr bwMode="auto">
          <a:xfrm>
            <a:off x="2065439" y="1856390"/>
            <a:ext cx="6654648" cy="16596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defRPr/>
            </a:pPr>
            <a:r>
              <a:rPr lang="it-IT" sz="3600" b="1" spc="-370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QGAN for Addressing Security Data Imbalance and Casual Attribution of QBER </a:t>
            </a:r>
            <a:endParaRPr sz="3600" b="1">
              <a:latin typeface="Libre Baskerville"/>
              <a:cs typeface="Libre Baskerville"/>
            </a:endParaRPr>
          </a:p>
        </p:txBody>
      </p:sp>
      <p:sp>
        <p:nvSpPr>
          <p:cNvPr id="40808947" name="object 5"/>
          <p:cNvSpPr txBox="1"/>
          <p:nvPr/>
        </p:nvSpPr>
        <p:spPr bwMode="auto">
          <a:xfrm flipH="0" flipV="0">
            <a:off x="277040" y="3830853"/>
            <a:ext cx="3824275" cy="680443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400" b="1" spc="-75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Prof.</a:t>
            </a:r>
            <a:r>
              <a:rPr sz="1400" b="1" spc="-145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 </a:t>
            </a:r>
            <a:r>
              <a:rPr sz="1400" b="1" spc="-85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Christiancarmine</a:t>
            </a:r>
            <a:r>
              <a:rPr sz="1400" b="1" spc="-175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 </a:t>
            </a:r>
            <a:r>
              <a:rPr sz="1400" b="1" spc="-4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Esposito</a:t>
            </a:r>
            <a:endParaRPr sz="1400" b="1" spc="-38">
              <a:solidFill>
                <a:srgbClr val="01ABA9"/>
              </a:solidFill>
              <a:latin typeface="Libre Baskerville"/>
              <a:cs typeface="Libre Baskerville"/>
            </a:endParaRPr>
          </a:p>
          <a:p>
            <a:pPr marL="12699">
              <a:lnSpc>
                <a:spcPct val="100000"/>
              </a:lnSpc>
              <a:spcBef>
                <a:spcPts val="105"/>
              </a:spcBef>
              <a:defRPr/>
            </a:pPr>
            <a:r>
              <a:rPr lang="it-IT" sz="1400" b="1" spc="-38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Dott. Franco Cirillo</a:t>
            </a:r>
            <a:endParaRPr sz="1400" b="1" spc="-38">
              <a:solidFill>
                <a:srgbClr val="01ABA9"/>
              </a:solidFill>
              <a:latin typeface="Libre Baskerville"/>
              <a:cs typeface="Libre Baskerville"/>
            </a:endParaRPr>
          </a:p>
          <a:p>
            <a:pPr marL="12699">
              <a:lnSpc>
                <a:spcPct val="100000"/>
              </a:lnSpc>
              <a:spcBef>
                <a:spcPts val="105"/>
              </a:spcBef>
              <a:defRPr/>
            </a:pPr>
            <a:r>
              <a:rPr lang="it-IT" sz="1400" b="1" spc="-38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Dott.ssa Mariacaterina D’Aloia</a:t>
            </a:r>
            <a:endParaRPr sz="1400" b="1">
              <a:solidFill>
                <a:srgbClr val="01ABA9"/>
              </a:solidFill>
              <a:latin typeface="Libre Baskerville"/>
              <a:cs typeface="Libre Baskerville"/>
            </a:endParaRPr>
          </a:p>
        </p:txBody>
      </p:sp>
      <p:sp>
        <p:nvSpPr>
          <p:cNvPr id="1093792779" name="object 4"/>
          <p:cNvSpPr txBox="1"/>
          <p:nvPr/>
        </p:nvSpPr>
        <p:spPr bwMode="auto">
          <a:xfrm flipH="0" flipV="0">
            <a:off x="5672118" y="3894778"/>
            <a:ext cx="3323563" cy="45247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 marR="5080" indent="130810">
              <a:lnSpc>
                <a:spcPct val="100000"/>
              </a:lnSpc>
              <a:spcBef>
                <a:spcPts val="100"/>
              </a:spcBef>
              <a:defRPr/>
            </a:pPr>
            <a:r>
              <a:rPr lang="it-IT" sz="1400" b="1" spc="-8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Alfonso Zappia, Mat. NF22500012</a:t>
            </a:r>
            <a:endParaRPr sz="1400" b="1" spc="-77">
              <a:solidFill>
                <a:srgbClr val="01ABA9"/>
              </a:solidFill>
              <a:latin typeface="Libre Baskerville"/>
              <a:cs typeface="Libre Baskerville"/>
            </a:endParaRPr>
          </a:p>
          <a:p>
            <a:pPr marL="12699" marR="5079" indent="130809">
              <a:lnSpc>
                <a:spcPct val="100000"/>
              </a:lnSpc>
              <a:spcBef>
                <a:spcPts val="100"/>
              </a:spcBef>
              <a:defRPr/>
            </a:pPr>
            <a:r>
              <a:rPr lang="it-IT" sz="1400" b="1" spc="-77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Nicola Frugieri, Mat. </a:t>
            </a:r>
            <a:r>
              <a:rPr lang="it-IT" sz="1400" b="1" i="0" u="none" strike="noStrike" cap="none" spc="-77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0522501966</a:t>
            </a:r>
            <a:endParaRPr sz="1400" b="1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852918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960514" y="223992"/>
            <a:ext cx="6871807" cy="539726"/>
          </a:xfrm>
          <a:prstGeom prst="rect">
            <a:avLst/>
          </a:prstGeom>
        </p:spPr>
        <p:txBody>
          <a:bodyPr vert="horz" wrap="square" lIns="0" tIns="173606" rIns="0" bIns="0" rtlCol="0">
            <a:spAutoFit/>
          </a:bodyPr>
          <a:lstStyle/>
          <a:p>
            <a:pPr marL="1402715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spc="-229">
                <a:latin typeface="Libre Baskerville"/>
                <a:ea typeface="Libre Baskerville"/>
                <a:cs typeface="Libre Baskerville"/>
              </a:rPr>
              <a:t>Problema: Scarsità e Ambiguità di Dati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598864673" name="object 24"/>
          <p:cNvSpPr txBox="1"/>
          <p:nvPr/>
        </p:nvSpPr>
        <p:spPr bwMode="auto">
          <a:xfrm>
            <a:off x="224157" y="4819095"/>
            <a:ext cx="7084813" cy="1660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sp>
        <p:nvSpPr>
          <p:cNvPr id="1866251865" name="Rettangolo 3"/>
          <p:cNvSpPr txBox="1"/>
          <p:nvPr/>
        </p:nvSpPr>
        <p:spPr bwMode="auto">
          <a:xfrm rot="0" flipH="0" flipV="0">
            <a:off x="713300" y="1476702"/>
            <a:ext cx="8254017" cy="1090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Intrusion Detection System (IDS)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Attacchi informatici rari (es. classe 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r21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 sbilanciata 1:1000)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  <a:p>
            <a:pPr marL="683929" lvl="1" indent="-283879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Troppo pochi esempi reali per far apprendere al classificatore varianti mai viste (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KDDTest+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)</a:t>
            </a:r>
            <a:endParaRPr sz="1600">
              <a:latin typeface="Libre Baskerville"/>
              <a:cs typeface="Libre Baskerville"/>
            </a:endParaRPr>
          </a:p>
        </p:txBody>
      </p:sp>
      <p:sp>
        <p:nvSpPr>
          <p:cNvPr id="454189213" name="Rettangolo 4"/>
          <p:cNvSpPr txBox="1"/>
          <p:nvPr/>
        </p:nvSpPr>
        <p:spPr bwMode="auto">
          <a:xfrm rot="0" flipH="0" flipV="0">
            <a:off x="713300" y="3052732"/>
            <a:ext cx="8144952" cy="13347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Quantum Key Distribution (QKD)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Il tasso di errore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QBER</m:t>
                      </m:r>
                    </m:oMath>
                  </m:oMathPara>
                </a14:m>
              </mc:Choice>
              <mc:Fallback/>
            </mc:AlternateContent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) è misurabile, ma </a:t>
            </a: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ambiguo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Un aumento del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QBER</m:t>
                      </m:r>
                    </m:oMath>
                  </m:oMathPara>
                </a14:m>
              </mc:Choice>
              <mc:Fallback/>
            </mc:AlternateContent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 segnala un problema, ma </a:t>
            </a: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non ne rivela la causa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: è un attacco di Eve, il rumore del canale o un errore del rilevatore?</a:t>
            </a:r>
            <a:endParaRPr sz="16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8203708" name="object 2"/>
          <p:cNvGrpSpPr/>
          <p:nvPr/>
        </p:nvGrpSpPr>
        <p:grpSpPr bwMode="auto">
          <a:xfrm>
            <a:off x="-4762" y="60388"/>
            <a:ext cx="3462020" cy="1482090"/>
            <a:chOff x="-4762" y="60388"/>
            <a:chExt cx="3462020" cy="1482090"/>
          </a:xfrm>
        </p:grpSpPr>
        <p:sp>
          <p:nvSpPr>
            <p:cNvPr id="3" name="object 3"/>
            <p:cNvSpPr/>
            <p:nvPr/>
          </p:nvSpPr>
          <p:spPr bwMode="auto">
            <a:xfrm>
              <a:off x="0" y="65151"/>
              <a:ext cx="3318510" cy="1208405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" name="object 4"/>
            <p:cNvSpPr/>
            <p:nvPr/>
          </p:nvSpPr>
          <p:spPr bwMode="auto">
            <a:xfrm>
              <a:off x="503872" y="964692"/>
              <a:ext cx="573405" cy="572770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499402" y="959739"/>
              <a:ext cx="582295" cy="582295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" name="object 6"/>
            <p:cNvSpPr/>
            <p:nvPr/>
          </p:nvSpPr>
          <p:spPr bwMode="auto">
            <a:xfrm>
              <a:off x="576300" y="1037209"/>
              <a:ext cx="427990" cy="427355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/>
            <p:cNvSpPr/>
            <p:nvPr/>
          </p:nvSpPr>
          <p:spPr bwMode="auto">
            <a:xfrm>
              <a:off x="571855" y="1032128"/>
              <a:ext cx="436880" cy="437515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/>
            <p:cNvSpPr/>
            <p:nvPr/>
          </p:nvSpPr>
          <p:spPr bwMode="auto">
            <a:xfrm>
              <a:off x="655421" y="1115695"/>
              <a:ext cx="270510" cy="270510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650430" y="1111250"/>
              <a:ext cx="280035" cy="279400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/>
            <p:cNvSpPr/>
            <p:nvPr/>
          </p:nvSpPr>
          <p:spPr bwMode="auto">
            <a:xfrm>
              <a:off x="1504822" y="393064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/>
            <p:cNvSpPr/>
            <p:nvPr/>
          </p:nvSpPr>
          <p:spPr bwMode="auto">
            <a:xfrm>
              <a:off x="1500377" y="388112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2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7" y="450469"/>
              <a:ext cx="167766" cy="1677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 bwMode="auto">
            <a:xfrm>
              <a:off x="3164078" y="495172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4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90" cy="220344"/>
            </a:xfrm>
            <a:prstGeom prst="rect">
              <a:avLst/>
            </a:prstGeom>
          </p:spPr>
        </p:pic>
      </p:grpSp>
      <p:pic>
        <p:nvPicPr>
          <p:cNvPr id="1677158420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4" y="4836196"/>
            <a:ext cx="712317" cy="265479"/>
          </a:xfrm>
          <a:prstGeom prst="rect">
            <a:avLst/>
          </a:prstGeom>
        </p:spPr>
      </p:pic>
      <p:grpSp>
        <p:nvGrpSpPr>
          <p:cNvPr id="276016777" name="object 16"/>
          <p:cNvGrpSpPr/>
          <p:nvPr/>
        </p:nvGrpSpPr>
        <p:grpSpPr bwMode="auto">
          <a:xfrm>
            <a:off x="0" y="4733569"/>
            <a:ext cx="9144000" cy="410209"/>
            <a:chOff x="0" y="4733569"/>
            <a:chExt cx="9144000" cy="410209"/>
          </a:xfrm>
        </p:grpSpPr>
        <p:sp>
          <p:nvSpPr>
            <p:cNvPr id="17" name="object 17"/>
            <p:cNvSpPr/>
            <p:nvPr/>
          </p:nvSpPr>
          <p:spPr bwMode="auto">
            <a:xfrm>
              <a:off x="0" y="4738331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" name="object 18"/>
            <p:cNvSpPr/>
            <p:nvPr/>
          </p:nvSpPr>
          <p:spPr bwMode="auto">
            <a:xfrm>
              <a:off x="8157908" y="4738331"/>
              <a:ext cx="9525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0323369" name="Rettangolo 31"/>
          <p:cNvSpPr txBox="1"/>
          <p:nvPr/>
        </p:nvSpPr>
        <p:spPr bwMode="auto">
          <a:xfrm rot="0" flipH="0" flipV="0">
            <a:off x="236524" y="1687561"/>
            <a:ext cx="8513022" cy="21462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Generatore Quantistico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600" b="0" i="1" u="none" strike="noStrike" cap="none" spc="0">
                              <a:solidFill>
                                <a:srgbClr val="01ABA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1ABA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1ABA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θ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)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circuito parametrizzato a 5 qubit (</a:t>
            </a:r>
            <a:r>
              <a:rPr lang="it-IT" sz="1600">
                <a:latin typeface="Courier New"/>
                <a:ea typeface="Courier New"/>
                <a:cs typeface="Courier New"/>
              </a:rPr>
              <a:t>EfficientSU2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) con 50 angoli di rotazione addestrabili;</a:t>
            </a:r>
            <a:endParaRPr sz="1600">
              <a:latin typeface="Libre Baskerville"/>
              <a:cs typeface="Libre Baskerville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Discriminatore Classico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600" b="0" i="1" u="none" strike="noStrike" cap="none" spc="0">
                              <a:solidFill>
                                <a:srgbClr val="01ABA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1ABA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1ABA9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ϕ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)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: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rete MLP che guida l’apprendimento del generatore;</a:t>
            </a:r>
            <a:endParaRPr sz="1600">
              <a:latin typeface="Libre Baskerville"/>
              <a:cs typeface="Libre Baskerville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Mappatura dei 5 qubit (Feature Freezing)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In QKD: 5 osservabili fisiche del canale (</a:t>
            </a:r>
            <a:r>
              <a:rPr lang="it-IT" sz="1600">
                <a:latin typeface="Courier New"/>
                <a:ea typeface="Courier New"/>
                <a:cs typeface="Courier New"/>
              </a:rPr>
              <a:t>qber</a:t>
            </a:r>
            <a:r>
              <a:rPr lang="it-IT" sz="1600">
                <a:latin typeface="Courier New"/>
                <a:ea typeface="Courier New"/>
                <a:cs typeface="Courier New"/>
              </a:rPr>
              <a:t>, </a:t>
            </a:r>
            <a:r>
              <a:rPr lang="it-IT" sz="1600">
                <a:latin typeface="Courier New"/>
                <a:ea typeface="Courier New"/>
                <a:cs typeface="Courier New"/>
              </a:rPr>
              <a:t>qber_rect</a:t>
            </a:r>
            <a:r>
              <a:rPr lang="it-IT" sz="1600">
                <a:latin typeface="Courier New"/>
                <a:ea typeface="Courier New"/>
                <a:cs typeface="Courier New"/>
              </a:rPr>
              <a:t>, </a:t>
            </a:r>
            <a:r>
              <a:rPr lang="it-IT" sz="1600">
                <a:latin typeface="Courier New"/>
                <a:ea typeface="Courier New"/>
                <a:cs typeface="Courier New"/>
              </a:rPr>
              <a:t>qber_diag</a:t>
            </a:r>
            <a:r>
              <a:rPr lang="it-IT" sz="1600">
                <a:latin typeface="Courier New"/>
                <a:ea typeface="Courier New"/>
                <a:cs typeface="Courier New"/>
              </a:rPr>
              <a:t>, </a:t>
            </a:r>
            <a:r>
              <a:rPr lang="it-IT" sz="1600">
                <a:latin typeface="Courier New"/>
                <a:ea typeface="Courier New"/>
                <a:cs typeface="Courier New"/>
              </a:rPr>
              <a:t>sift_rate</a:t>
            </a:r>
            <a:r>
              <a:rPr lang="it-IT" sz="1600">
                <a:latin typeface="Courier New"/>
                <a:ea typeface="Courier New"/>
                <a:cs typeface="Courier New"/>
              </a:rPr>
              <a:t>, </a:t>
            </a:r>
            <a:r>
              <a:rPr lang="it-IT" sz="1600">
                <a:latin typeface="Courier New"/>
                <a:ea typeface="Courier New"/>
                <a:cs typeface="Courier New"/>
              </a:rPr>
              <a:t>loss_rate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);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In IDS: 5 componenti principali (PCA) estratte dal dataset </a:t>
            </a:r>
            <a:r>
              <a:rPr lang="it-IT" sz="1600">
                <a:latin typeface="Courier New"/>
                <a:ea typeface="Courier New"/>
                <a:cs typeface="Courier New"/>
              </a:rPr>
              <a:t>NLS-KDD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;</a:t>
            </a:r>
            <a:endParaRPr sz="1600">
              <a:latin typeface="Libre Baskerville"/>
              <a:cs typeface="Libre Baskerville"/>
            </a:endParaRPr>
          </a:p>
        </p:txBody>
      </p:sp>
      <p:sp>
        <p:nvSpPr>
          <p:cNvPr id="1144480073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3316255" y="216719"/>
            <a:ext cx="5699953" cy="905486"/>
          </a:xfrm>
          <a:prstGeom prst="rect">
            <a:avLst/>
          </a:prstGeom>
        </p:spPr>
        <p:txBody>
          <a:bodyPr vert="horz" wrap="square" lIns="0" tIns="173606" rIns="0" bIns="0" rtlCol="0">
            <a:spAutoFit/>
          </a:bodyPr>
          <a:lstStyle/>
          <a:p>
            <a:pPr marL="1402714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spc="-228">
                <a:latin typeface="Libre Baskerville"/>
                <a:ea typeface="Libre Baskerville"/>
                <a:cs typeface="Libre Baskerville"/>
              </a:rPr>
              <a:t>Architettura proposta: QGAN ibrida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978560728" name="object 24"/>
          <p:cNvSpPr txBox="1"/>
          <p:nvPr/>
        </p:nvSpPr>
        <p:spPr bwMode="auto">
          <a:xfrm>
            <a:off x="224156" y="4836195"/>
            <a:ext cx="7085172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4934827" name="object 24"/>
          <p:cNvSpPr txBox="1"/>
          <p:nvPr/>
        </p:nvSpPr>
        <p:spPr bwMode="auto">
          <a:xfrm>
            <a:off x="224156" y="4836195"/>
            <a:ext cx="7085531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pic>
        <p:nvPicPr>
          <p:cNvPr id="120653389" name="Immagin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85076" y="1156087"/>
            <a:ext cx="6180343" cy="30901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570977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1887745" y="405766"/>
            <a:ext cx="5320522" cy="539726"/>
          </a:xfrm>
          <a:prstGeom prst="rect">
            <a:avLst/>
          </a:prstGeom>
        </p:spPr>
        <p:txBody>
          <a:bodyPr vert="horz" wrap="square" lIns="0" tIns="173606" rIns="0" bIns="0" rtlCol="0">
            <a:spAutoFit/>
          </a:bodyPr>
          <a:lstStyle/>
          <a:p>
            <a:pPr marL="1402714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spc="-228">
                <a:latin typeface="Libre Baskerville"/>
                <a:ea typeface="Libre Baskerville"/>
                <a:cs typeface="Libre Baskerville"/>
              </a:rPr>
              <a:t>I 3 Quesiti di Ricerca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312778124" name="Rettangolo 3"/>
          <p:cNvSpPr txBox="1"/>
          <p:nvPr/>
        </p:nvSpPr>
        <p:spPr bwMode="auto">
          <a:xfrm rot="0" flipH="0" flipV="0">
            <a:off x="389451" y="1270540"/>
            <a:ext cx="831711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O1 - Trasferibilità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È possibile trasferire la stessa architettura quantistica su due domini di sicurezza differenti?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</p:txBody>
      </p:sp>
      <p:sp>
        <p:nvSpPr>
          <p:cNvPr id="1922475646" name="Rettangolo 4"/>
          <p:cNvSpPr txBox="1"/>
          <p:nvPr/>
        </p:nvSpPr>
        <p:spPr bwMode="auto">
          <a:xfrm rot="0" flipH="0" flipV="0">
            <a:off x="389451" y="2253822"/>
            <a:ext cx="8504435" cy="1310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RQ2 – Generazione e Augmentation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IDS: generare attacchi sintetici migliora il riconoscimento di nuovi attacchi?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QKD: la QGAN riesce a stimare il canale per configurazioni fisiche mai misurate?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</p:txBody>
      </p:sp>
      <p:sp>
        <p:nvSpPr>
          <p:cNvPr id="134339688" name="Rettangolo 5"/>
          <p:cNvSpPr txBox="1"/>
          <p:nvPr/>
        </p:nvSpPr>
        <p:spPr bwMode="auto">
          <a:xfrm rot="0" flipH="0" flipV="0">
            <a:off x="389451" y="3645020"/>
            <a:ext cx="8664397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O3 – Attribuzione Causale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Possiamo risalire alla quota relativa delle 3 cause d’errore usando solo le 5 osservabili del canale?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</p:txBody>
      </p:sp>
      <p:sp>
        <p:nvSpPr>
          <p:cNvPr id="1817772731" name="object 24"/>
          <p:cNvSpPr txBox="1"/>
          <p:nvPr/>
        </p:nvSpPr>
        <p:spPr bwMode="auto">
          <a:xfrm>
            <a:off x="224156" y="4836195"/>
            <a:ext cx="7085531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7199583" name="object 2"/>
          <p:cNvGrpSpPr/>
          <p:nvPr/>
        </p:nvGrpSpPr>
        <p:grpSpPr bwMode="auto">
          <a:xfrm>
            <a:off x="-4761" y="60386"/>
            <a:ext cx="3462019" cy="1482089"/>
            <a:chOff x="-4761" y="60386"/>
            <a:chExt cx="3462019" cy="1482089"/>
          </a:xfrm>
        </p:grpSpPr>
        <p:sp>
          <p:nvSpPr>
            <p:cNvPr id="716786638" name="object 3"/>
            <p:cNvSpPr/>
            <p:nvPr/>
          </p:nvSpPr>
          <p:spPr bwMode="auto">
            <a:xfrm>
              <a:off x="0" y="65151"/>
              <a:ext cx="3318509" cy="1208404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89141685" name="object 4"/>
            <p:cNvSpPr/>
            <p:nvPr/>
          </p:nvSpPr>
          <p:spPr bwMode="auto">
            <a:xfrm>
              <a:off x="503871" y="964692"/>
              <a:ext cx="573404" cy="572769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10183905" name="object 5"/>
            <p:cNvSpPr/>
            <p:nvPr/>
          </p:nvSpPr>
          <p:spPr bwMode="auto">
            <a:xfrm>
              <a:off x="499401" y="959738"/>
              <a:ext cx="582294" cy="582294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33320734" name="object 6"/>
            <p:cNvSpPr/>
            <p:nvPr/>
          </p:nvSpPr>
          <p:spPr bwMode="auto">
            <a:xfrm>
              <a:off x="576299" y="1037208"/>
              <a:ext cx="427989" cy="427353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37026910" name="object 7"/>
            <p:cNvSpPr/>
            <p:nvPr/>
          </p:nvSpPr>
          <p:spPr bwMode="auto">
            <a:xfrm>
              <a:off x="571854" y="1032127"/>
              <a:ext cx="436879" cy="437514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35144929" name="object 8"/>
            <p:cNvSpPr/>
            <p:nvPr/>
          </p:nvSpPr>
          <p:spPr bwMode="auto">
            <a:xfrm>
              <a:off x="655420" y="1115694"/>
              <a:ext cx="270509" cy="270509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07641829" name="object 9"/>
            <p:cNvSpPr/>
            <p:nvPr/>
          </p:nvSpPr>
          <p:spPr bwMode="auto">
            <a:xfrm>
              <a:off x="650430" y="1111249"/>
              <a:ext cx="280035" cy="279399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65167577" name="object 10"/>
            <p:cNvSpPr/>
            <p:nvPr/>
          </p:nvSpPr>
          <p:spPr bwMode="auto">
            <a:xfrm>
              <a:off x="1504821" y="393063"/>
              <a:ext cx="282574" cy="282574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64011811" name="object 11"/>
            <p:cNvSpPr/>
            <p:nvPr/>
          </p:nvSpPr>
          <p:spPr bwMode="auto">
            <a:xfrm>
              <a:off x="1500376" y="388111"/>
              <a:ext cx="292099" cy="292734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156129334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6" y="450468"/>
              <a:ext cx="167765" cy="167765"/>
            </a:xfrm>
            <a:prstGeom prst="rect">
              <a:avLst/>
            </a:prstGeom>
          </p:spPr>
        </p:pic>
        <p:sp>
          <p:nvSpPr>
            <p:cNvPr id="950855127" name="object 13"/>
            <p:cNvSpPr/>
            <p:nvPr/>
          </p:nvSpPr>
          <p:spPr bwMode="auto">
            <a:xfrm>
              <a:off x="3164077" y="495171"/>
              <a:ext cx="293369" cy="293369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199163678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89" cy="220343"/>
            </a:xfrm>
            <a:prstGeom prst="rect">
              <a:avLst/>
            </a:prstGeom>
          </p:spPr>
        </p:pic>
      </p:grpSp>
      <p:pic>
        <p:nvPicPr>
          <p:cNvPr id="133704789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3" y="4836195"/>
            <a:ext cx="712316" cy="265478"/>
          </a:xfrm>
          <a:prstGeom prst="rect">
            <a:avLst/>
          </a:prstGeom>
        </p:spPr>
      </p:pic>
      <p:grpSp>
        <p:nvGrpSpPr>
          <p:cNvPr id="409879153" name="object 16"/>
          <p:cNvGrpSpPr/>
          <p:nvPr/>
        </p:nvGrpSpPr>
        <p:grpSpPr bwMode="auto">
          <a:xfrm>
            <a:off x="0" y="4733568"/>
            <a:ext cx="9144000" cy="410207"/>
            <a:chOff x="0" y="4733568"/>
            <a:chExt cx="9144000" cy="410207"/>
          </a:xfrm>
        </p:grpSpPr>
        <p:sp>
          <p:nvSpPr>
            <p:cNvPr id="2078032263" name="object 17"/>
            <p:cNvSpPr/>
            <p:nvPr/>
          </p:nvSpPr>
          <p:spPr bwMode="auto">
            <a:xfrm>
              <a:off x="0" y="473833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64430311" name="object 18"/>
            <p:cNvSpPr/>
            <p:nvPr/>
          </p:nvSpPr>
          <p:spPr bwMode="auto">
            <a:xfrm>
              <a:off x="8157907" y="4738330"/>
              <a:ext cx="9524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40357416" name="Rettangolo 31"/>
          <p:cNvSpPr txBox="1"/>
          <p:nvPr/>
        </p:nvSpPr>
        <p:spPr bwMode="auto">
          <a:xfrm rot="0" flipH="0" flipV="0">
            <a:off x="185627" y="2160176"/>
            <a:ext cx="9110302" cy="13347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Risultato rispetto a SMOTE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La QGAN (con correzione dei momenti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μ, </m:t>
                      </m:r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</m:oMath>
                  </m:oMathPara>
                </a14:m>
              </mc:Choice>
              <mc:Fallback/>
            </mc:AlternateContent>
            <a:r>
              <a:rPr lang="it-IT" sz="1600">
                <a:latin typeface="Libre Baskerville"/>
                <a:ea typeface="Libre Baskerville"/>
                <a:cs typeface="Libre Baskerville"/>
              </a:rPr>
              <a:t>) batte SMOTE con uno scarto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it-IT" sz="1600" u="none" strike="noStrike" cap="none" spc="0">
                          <a:solidFill>
                            <a:srgbClr val="01ABA9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+0,1237</m:t>
                      </m:r>
                    </m:oMath>
                  </m:oMathPara>
                </a14:m>
              </mc:Choice>
              <mc:Fallback/>
            </mc:AlternateContent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 in PR-AUC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su attacchi mai visti (</a:t>
            </a:r>
            <a:r>
              <a:rPr lang="it-IT" sz="1600">
                <a:latin typeface="Courier New"/>
                <a:ea typeface="Courier New"/>
                <a:cs typeface="Courier New"/>
              </a:rPr>
              <a:t>KDDTest+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);</a:t>
            </a:r>
            <a:endParaRPr sz="1600">
              <a:latin typeface="Libre Baskerville"/>
              <a:cs typeface="Libre Baskerville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Domanda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C’è effettivamente un vantaggio quantistico?</a:t>
            </a:r>
            <a:endParaRPr sz="1600">
              <a:latin typeface="Libre Baskerville"/>
              <a:cs typeface="Libre Baskerville"/>
            </a:endParaRPr>
          </a:p>
        </p:txBody>
      </p:sp>
      <p:sp>
        <p:nvSpPr>
          <p:cNvPr id="824472275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471596" y="318513"/>
            <a:ext cx="6544612" cy="905486"/>
          </a:xfrm>
          <a:prstGeom prst="rect">
            <a:avLst/>
          </a:prstGeom>
        </p:spPr>
        <p:txBody>
          <a:bodyPr vert="horz" wrap="square" lIns="0" tIns="173606" rIns="0" bIns="0" rtlCol="0">
            <a:spAutoFit/>
          </a:bodyPr>
          <a:lstStyle/>
          <a:p>
            <a:pPr marL="1402714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8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Ramo IDS: Data Augmentation e Test-Out-of-Distribution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1533057039" name="object 24"/>
          <p:cNvSpPr txBox="1"/>
          <p:nvPr/>
        </p:nvSpPr>
        <p:spPr bwMode="auto">
          <a:xfrm>
            <a:off x="224156" y="4836195"/>
            <a:ext cx="7085531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8031359" name="object 2"/>
          <p:cNvGrpSpPr/>
          <p:nvPr/>
        </p:nvGrpSpPr>
        <p:grpSpPr bwMode="auto">
          <a:xfrm>
            <a:off x="-4761" y="60386"/>
            <a:ext cx="3462019" cy="1482089"/>
            <a:chOff x="-4761" y="60386"/>
            <a:chExt cx="3462019" cy="1482089"/>
          </a:xfrm>
        </p:grpSpPr>
        <p:sp>
          <p:nvSpPr>
            <p:cNvPr id="1717835194" name="object 3"/>
            <p:cNvSpPr/>
            <p:nvPr/>
          </p:nvSpPr>
          <p:spPr bwMode="auto">
            <a:xfrm>
              <a:off x="0" y="65151"/>
              <a:ext cx="3318509" cy="1208404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59224868" name="object 4"/>
            <p:cNvSpPr/>
            <p:nvPr/>
          </p:nvSpPr>
          <p:spPr bwMode="auto">
            <a:xfrm>
              <a:off x="503871" y="964692"/>
              <a:ext cx="573404" cy="572769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19455191" name="object 5"/>
            <p:cNvSpPr/>
            <p:nvPr/>
          </p:nvSpPr>
          <p:spPr bwMode="auto">
            <a:xfrm>
              <a:off x="499401" y="959738"/>
              <a:ext cx="582294" cy="582294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64047187" name="object 6"/>
            <p:cNvSpPr/>
            <p:nvPr/>
          </p:nvSpPr>
          <p:spPr bwMode="auto">
            <a:xfrm>
              <a:off x="576299" y="1037208"/>
              <a:ext cx="427989" cy="427353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08036759" name="object 7"/>
            <p:cNvSpPr/>
            <p:nvPr/>
          </p:nvSpPr>
          <p:spPr bwMode="auto">
            <a:xfrm>
              <a:off x="571854" y="1032127"/>
              <a:ext cx="436879" cy="437514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18031288" name="object 8"/>
            <p:cNvSpPr/>
            <p:nvPr/>
          </p:nvSpPr>
          <p:spPr bwMode="auto">
            <a:xfrm>
              <a:off x="655420" y="1115694"/>
              <a:ext cx="270509" cy="270509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50442886" name="object 9"/>
            <p:cNvSpPr/>
            <p:nvPr/>
          </p:nvSpPr>
          <p:spPr bwMode="auto">
            <a:xfrm>
              <a:off x="650430" y="1111249"/>
              <a:ext cx="280035" cy="279399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84361623" name="object 10"/>
            <p:cNvSpPr/>
            <p:nvPr/>
          </p:nvSpPr>
          <p:spPr bwMode="auto">
            <a:xfrm>
              <a:off x="1504821" y="393063"/>
              <a:ext cx="282574" cy="282574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52494480" name="object 11"/>
            <p:cNvSpPr/>
            <p:nvPr/>
          </p:nvSpPr>
          <p:spPr bwMode="auto">
            <a:xfrm>
              <a:off x="1500376" y="388111"/>
              <a:ext cx="292099" cy="292734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147869220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6" y="450468"/>
              <a:ext cx="167765" cy="167765"/>
            </a:xfrm>
            <a:prstGeom prst="rect">
              <a:avLst/>
            </a:prstGeom>
          </p:spPr>
        </p:pic>
        <p:sp>
          <p:nvSpPr>
            <p:cNvPr id="1048039745" name="object 13"/>
            <p:cNvSpPr/>
            <p:nvPr/>
          </p:nvSpPr>
          <p:spPr bwMode="auto">
            <a:xfrm>
              <a:off x="3164077" y="495171"/>
              <a:ext cx="293369" cy="293369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815191378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89" cy="220343"/>
            </a:xfrm>
            <a:prstGeom prst="rect">
              <a:avLst/>
            </a:prstGeom>
          </p:spPr>
        </p:pic>
      </p:grpSp>
      <p:pic>
        <p:nvPicPr>
          <p:cNvPr id="1770932051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3" y="4836195"/>
            <a:ext cx="712316" cy="265478"/>
          </a:xfrm>
          <a:prstGeom prst="rect">
            <a:avLst/>
          </a:prstGeom>
        </p:spPr>
      </p:pic>
      <p:grpSp>
        <p:nvGrpSpPr>
          <p:cNvPr id="658542074" name="object 16"/>
          <p:cNvGrpSpPr/>
          <p:nvPr/>
        </p:nvGrpSpPr>
        <p:grpSpPr bwMode="auto">
          <a:xfrm>
            <a:off x="0" y="4733568"/>
            <a:ext cx="9144000" cy="410207"/>
            <a:chOff x="0" y="4733568"/>
            <a:chExt cx="9144000" cy="410207"/>
          </a:xfrm>
        </p:grpSpPr>
        <p:sp>
          <p:nvSpPr>
            <p:cNvPr id="1808564159" name="object 17"/>
            <p:cNvSpPr/>
            <p:nvPr/>
          </p:nvSpPr>
          <p:spPr bwMode="auto">
            <a:xfrm>
              <a:off x="0" y="473833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90234172" name="object 18"/>
            <p:cNvSpPr/>
            <p:nvPr/>
          </p:nvSpPr>
          <p:spPr bwMode="auto">
            <a:xfrm>
              <a:off x="8157907" y="4738330"/>
              <a:ext cx="9524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34264139" name="Rettangolo 31"/>
          <p:cNvSpPr txBox="1"/>
          <p:nvPr/>
        </p:nvSpPr>
        <p:spPr bwMode="auto">
          <a:xfrm rot="0" flipH="0" flipV="0">
            <a:off x="217895" y="1696837"/>
            <a:ext cx="9004224" cy="23100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Confronto severo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Abbiamo testato la QGAN contro una semplice distribuzione Gaussiana classica a cui sono stati imposti gli stessi momenti di media e covarianza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μ, </m:t>
                      </m:r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</m:oMath>
                  </m:oMathPara>
                </a14:m>
              </mc:Choice>
              <mc:Fallback/>
            </mc:AlternateContent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)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;</a:t>
            </a:r>
            <a:endParaRPr sz="1600">
              <a:latin typeface="Libre Baskerville"/>
              <a:cs typeface="Libre Baskerville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Esito del confronto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Il divario tra QGAN e Gaussiana si riduce a soli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+0,0085</m:t>
                      </m:r>
                    </m:oMath>
                  </m:oMathPara>
                </a14:m>
              </mc:Choice>
              <mc:Fallback/>
            </mc:AlternateContent>
            <a:r>
              <a:rPr lang="it-IT" sz="1600">
                <a:latin typeface="Libre Baskerville"/>
                <a:ea typeface="Libre Baskerville"/>
                <a:cs typeface="Libre Baskerville"/>
              </a:rPr>
              <a:t>;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</a:t>
            </a:r>
            <a:endParaRPr sz="1600">
              <a:latin typeface="Libre Baskerville"/>
              <a:cs typeface="Libre Baskerville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Conclusione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1" i="0" u="none" strike="noStrike" cap="none" spc="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Nessun vantaggio quantistico dimostrato</a:t>
            </a: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. Il miglioramento è dovuto alla calibrazione di media/covarianza e alla generazione di punti esterni all’inviluppo dei dati reali</a:t>
            </a:r>
            <a:endParaRPr sz="1600">
              <a:latin typeface="Libre Baskerville"/>
              <a:cs typeface="Libre Baskerville"/>
            </a:endParaRPr>
          </a:p>
        </p:txBody>
      </p:sp>
      <p:sp>
        <p:nvSpPr>
          <p:cNvPr id="2128048201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865113" y="318513"/>
            <a:ext cx="6545332" cy="539726"/>
          </a:xfrm>
          <a:prstGeom prst="rect">
            <a:avLst/>
          </a:prstGeom>
        </p:spPr>
        <p:txBody>
          <a:bodyPr vert="horz" wrap="square" lIns="0" tIns="173606" rIns="0" bIns="0" rtlCol="0">
            <a:spAutoFit/>
          </a:bodyPr>
          <a:lstStyle/>
          <a:p>
            <a:pPr marL="1402714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8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Ramo IDS: Controllo decisivo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1515827963" name="object 24"/>
          <p:cNvSpPr txBox="1"/>
          <p:nvPr/>
        </p:nvSpPr>
        <p:spPr bwMode="auto">
          <a:xfrm>
            <a:off x="224156" y="4836195"/>
            <a:ext cx="7085531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8339911" name="object 2"/>
          <p:cNvGrpSpPr/>
          <p:nvPr/>
        </p:nvGrpSpPr>
        <p:grpSpPr bwMode="auto">
          <a:xfrm>
            <a:off x="-4761" y="60386"/>
            <a:ext cx="3462019" cy="1482089"/>
            <a:chOff x="-4761" y="60386"/>
            <a:chExt cx="3462019" cy="1482089"/>
          </a:xfrm>
        </p:grpSpPr>
        <p:sp>
          <p:nvSpPr>
            <p:cNvPr id="1227869994" name="object 3"/>
            <p:cNvSpPr/>
            <p:nvPr/>
          </p:nvSpPr>
          <p:spPr bwMode="auto">
            <a:xfrm>
              <a:off x="0" y="65151"/>
              <a:ext cx="3318509" cy="1208404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21928156" name="object 4"/>
            <p:cNvSpPr/>
            <p:nvPr/>
          </p:nvSpPr>
          <p:spPr bwMode="auto">
            <a:xfrm>
              <a:off x="503871" y="964692"/>
              <a:ext cx="573404" cy="572769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85797478" name="object 5"/>
            <p:cNvSpPr/>
            <p:nvPr/>
          </p:nvSpPr>
          <p:spPr bwMode="auto">
            <a:xfrm>
              <a:off x="499401" y="959738"/>
              <a:ext cx="582294" cy="582294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46691966" name="object 6"/>
            <p:cNvSpPr/>
            <p:nvPr/>
          </p:nvSpPr>
          <p:spPr bwMode="auto">
            <a:xfrm>
              <a:off x="576299" y="1037208"/>
              <a:ext cx="427989" cy="427353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77173156" name="object 7"/>
            <p:cNvSpPr/>
            <p:nvPr/>
          </p:nvSpPr>
          <p:spPr bwMode="auto">
            <a:xfrm>
              <a:off x="571854" y="1032127"/>
              <a:ext cx="436879" cy="437514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81783721" name="object 8"/>
            <p:cNvSpPr/>
            <p:nvPr/>
          </p:nvSpPr>
          <p:spPr bwMode="auto">
            <a:xfrm>
              <a:off x="655420" y="1115694"/>
              <a:ext cx="270509" cy="270509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85022831" name="object 9"/>
            <p:cNvSpPr/>
            <p:nvPr/>
          </p:nvSpPr>
          <p:spPr bwMode="auto">
            <a:xfrm>
              <a:off x="650430" y="1111249"/>
              <a:ext cx="280035" cy="279399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77284178" name="object 10"/>
            <p:cNvSpPr/>
            <p:nvPr/>
          </p:nvSpPr>
          <p:spPr bwMode="auto">
            <a:xfrm>
              <a:off x="1504821" y="393063"/>
              <a:ext cx="282574" cy="282574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707113020" name="object 11"/>
            <p:cNvSpPr/>
            <p:nvPr/>
          </p:nvSpPr>
          <p:spPr bwMode="auto">
            <a:xfrm>
              <a:off x="1500376" y="388111"/>
              <a:ext cx="292099" cy="292734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526370545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6" y="450468"/>
              <a:ext cx="167765" cy="167765"/>
            </a:xfrm>
            <a:prstGeom prst="rect">
              <a:avLst/>
            </a:prstGeom>
          </p:spPr>
        </p:pic>
        <p:sp>
          <p:nvSpPr>
            <p:cNvPr id="2098805451" name="object 13"/>
            <p:cNvSpPr/>
            <p:nvPr/>
          </p:nvSpPr>
          <p:spPr bwMode="auto">
            <a:xfrm>
              <a:off x="3164077" y="495171"/>
              <a:ext cx="293369" cy="293369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30731504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89" cy="220343"/>
            </a:xfrm>
            <a:prstGeom prst="rect">
              <a:avLst/>
            </a:prstGeom>
          </p:spPr>
        </p:pic>
      </p:grpSp>
      <p:pic>
        <p:nvPicPr>
          <p:cNvPr id="974195955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3" y="4836195"/>
            <a:ext cx="712316" cy="265478"/>
          </a:xfrm>
          <a:prstGeom prst="rect">
            <a:avLst/>
          </a:prstGeom>
        </p:spPr>
      </p:pic>
      <p:grpSp>
        <p:nvGrpSpPr>
          <p:cNvPr id="1232652128" name="object 16"/>
          <p:cNvGrpSpPr/>
          <p:nvPr/>
        </p:nvGrpSpPr>
        <p:grpSpPr bwMode="auto">
          <a:xfrm>
            <a:off x="0" y="4733568"/>
            <a:ext cx="9144000" cy="410207"/>
            <a:chOff x="0" y="4733568"/>
            <a:chExt cx="9144000" cy="410207"/>
          </a:xfrm>
        </p:grpSpPr>
        <p:sp>
          <p:nvSpPr>
            <p:cNvPr id="1662332704" name="object 17"/>
            <p:cNvSpPr/>
            <p:nvPr/>
          </p:nvSpPr>
          <p:spPr bwMode="auto">
            <a:xfrm>
              <a:off x="0" y="473833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64000037" name="object 18"/>
            <p:cNvSpPr/>
            <p:nvPr/>
          </p:nvSpPr>
          <p:spPr bwMode="auto">
            <a:xfrm>
              <a:off x="8157907" y="4738330"/>
              <a:ext cx="9524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48054366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718972" y="173093"/>
            <a:ext cx="6297235" cy="905485"/>
          </a:xfrm>
          <a:prstGeom prst="rect">
            <a:avLst/>
          </a:prstGeom>
        </p:spPr>
        <p:txBody>
          <a:bodyPr vert="horz" wrap="square" lIns="0" tIns="173605" rIns="0" bIns="0" rtlCol="0">
            <a:spAutoFit/>
          </a:bodyPr>
          <a:lstStyle/>
          <a:p>
            <a:pPr marL="1402714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8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Ramo QKD: la QGAN può fungere da digital twin del canale?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2063525870" name="object 24"/>
          <p:cNvSpPr txBox="1"/>
          <p:nvPr/>
        </p:nvSpPr>
        <p:spPr bwMode="auto">
          <a:xfrm>
            <a:off x="224156" y="4836195"/>
            <a:ext cx="7085531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pic>
        <p:nvPicPr>
          <p:cNvPr id="1427770401" name="Immagine 21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108389" y="1580277"/>
            <a:ext cx="586478" cy="586478"/>
          </a:xfrm>
          <a:prstGeom prst="rect">
            <a:avLst/>
          </a:prstGeom>
        </p:spPr>
      </p:pic>
      <p:pic>
        <p:nvPicPr>
          <p:cNvPr id="1573149604" name="Immagine 25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1767578" y="1652769"/>
            <a:ext cx="441494" cy="441494"/>
          </a:xfrm>
          <a:prstGeom prst="rect">
            <a:avLst/>
          </a:prstGeom>
        </p:spPr>
      </p:pic>
      <p:pic>
        <p:nvPicPr>
          <p:cNvPr id="548127156" name="Immagine 27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2256028" y="1652769"/>
            <a:ext cx="462943" cy="462943"/>
          </a:xfrm>
          <a:prstGeom prst="rect">
            <a:avLst/>
          </a:prstGeom>
        </p:spPr>
      </p:pic>
      <p:sp>
        <p:nvSpPr>
          <p:cNvPr id="510399139" name="Rettangolo 28"/>
          <p:cNvSpPr txBox="1"/>
          <p:nvPr/>
        </p:nvSpPr>
        <p:spPr bwMode="auto">
          <a:xfrm rot="0" flipH="0" flipV="0">
            <a:off x="337294" y="2273726"/>
            <a:ext cx="5992713" cy="85421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Ricevendo le coordinate fisiche di uno scenario non misurato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 = (</m:t>
                      </m:r>
                      <m:sSub>
                        <m:sSubPr>
                          <m:ctrl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e,</m:t>
                          </m:r>
                        </m:sub>
                      </m:sSub>
                      <m:r>
                        <m:rPr/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L,</m:t>
                      </m:r>
                      <m:sSub>
                        <m:sSubPr>
                          <m:ctrl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it-IT" sz="16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it-IT" sz="1600" u="none" strike="noStrike" cap="none" spc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tot</m:t>
                              </m:r>
                            </m:e>
                          </m:d>
                        </m:sub>
                      </m:sSub>
                      <m:r>
                        <m:rPr/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it-IT" sz="1600">
                <a:latin typeface="Libre Baskerville"/>
                <a:ea typeface="Libre Baskerville"/>
                <a:cs typeface="Libre Baskerville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G</m:t>
                      </m:r>
                    </m:oMath>
                  </m:oMathPara>
                </a14:m>
              </mc:Choice>
              <mc:Fallback/>
            </mc:AlternateContent>
            <a:r>
              <a:rPr lang="it-IT" sz="1600">
                <a:latin typeface="Libre Baskerville"/>
                <a:ea typeface="Libre Baskerville"/>
                <a:cs typeface="Libre Baskerville"/>
              </a:rPr>
              <a:t> è in grado di sintetizzare con fedeltà le 5 osservabili fisiche del canale?</a:t>
            </a:r>
            <a:endParaRPr sz="16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884132" name="Rettangolo 3"/>
          <p:cNvSpPr txBox="1"/>
          <p:nvPr/>
        </p:nvSpPr>
        <p:spPr bwMode="auto">
          <a:xfrm rot="0" flipH="0" flipV="0">
            <a:off x="293206" y="1273114"/>
            <a:ext cx="2958390" cy="10908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3 assi di controllo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Fibra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</m:oMath>
                  </m:oMathPara>
                </a14:m>
              </mc:Choice>
              <mc:Fallback/>
            </mc:AlternateContent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 (5-40km)</a:t>
            </a:r>
            <a:endParaRPr lang="it-IT" sz="1600" b="0" i="0" u="none" strike="noStrike" cap="none" spc="0">
              <a:solidFill>
                <a:srgbClr val="000000"/>
              </a:solidFill>
              <a:latin typeface="Libre Baskerville"/>
              <a:ea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Attacco Eve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6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 (0-1),</a:t>
            </a:r>
            <a:endParaRPr lang="it-IT" sz="1600" b="0" i="0" u="none" strike="noStrike" cap="none" spc="0">
              <a:solidFill>
                <a:srgbClr val="000000"/>
              </a:solidFill>
              <a:latin typeface="Libre Baskerville"/>
              <a:ea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Depolarizzazione</a:t>
            </a:r>
            <a:endParaRPr lang="it-IT" sz="1600" b="0" i="0" u="none" strike="noStrike" cap="none" spc="0">
              <a:solidFill>
                <a:srgbClr val="000000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1020926687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1772402" y="273104"/>
            <a:ext cx="5403067" cy="539725"/>
          </a:xfrm>
          <a:prstGeom prst="rect">
            <a:avLst/>
          </a:prstGeom>
        </p:spPr>
        <p:txBody>
          <a:bodyPr vert="horz" wrap="square" lIns="0" tIns="173605" rIns="0" bIns="0" rtlCol="0">
            <a:spAutoFit/>
          </a:bodyPr>
          <a:lstStyle/>
          <a:p>
            <a:pPr marL="1402713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6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Ramo QKD: spazio operativo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1696558392" name="object 24"/>
          <p:cNvSpPr txBox="1"/>
          <p:nvPr/>
        </p:nvSpPr>
        <p:spPr bwMode="auto">
          <a:xfrm>
            <a:off x="224155" y="4836195"/>
            <a:ext cx="7085530" cy="166093"/>
          </a:xfrm>
          <a:prstGeom prst="rect">
            <a:avLst/>
          </a:prstGeom>
        </p:spPr>
        <p:txBody>
          <a:bodyPr vert="horz" wrap="square" lIns="0" tIns="13332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sp>
        <p:nvSpPr>
          <p:cNvPr id="1885542953" name="Rettangolo 4"/>
          <p:cNvSpPr txBox="1"/>
          <p:nvPr/>
        </p:nvSpPr>
        <p:spPr bwMode="auto">
          <a:xfrm rot="0" flipH="0" flipV="0">
            <a:off x="224155" y="2572846"/>
            <a:ext cx="3408271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Partitioning delle 120 celle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24 celle interne</a:t>
            </a:r>
            <a:endParaRPr lang="it-IT" sz="1600" b="0" i="0" u="none" strike="noStrike" cap="none" spc="0">
              <a:solidFill>
                <a:srgbClr val="000000"/>
              </a:solidFill>
              <a:latin typeface="Libre Baskerville"/>
              <a:ea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96 celle di bordo</a:t>
            </a:r>
            <a:endParaRPr lang="it-IT" sz="1600" b="0" i="0" u="none" strike="noStrike" cap="none" spc="0">
              <a:solidFill>
                <a:srgbClr val="000000"/>
              </a:solidFill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1258365694" name="Rettangolo 5"/>
          <p:cNvSpPr txBox="1"/>
          <p:nvPr/>
        </p:nvSpPr>
        <p:spPr bwMode="auto">
          <a:xfrm rot="0" flipH="0" flipV="0">
            <a:off x="224155" y="3504839"/>
            <a:ext cx="3447871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5 osservabili generate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Courier New"/>
                <a:ea typeface="Courier New"/>
                <a:cs typeface="Courier New"/>
              </a:rPr>
              <a:t>qber, qber_rect, qber_diag, sift_rate, loss_rate</a:t>
            </a:r>
            <a:endParaRPr sz="1600" b="0" i="0" u="none" strike="noStrike" cap="none" spc="0">
              <a:solidFill>
                <a:srgbClr val="000000"/>
              </a:solidFill>
              <a:latin typeface="Courier New"/>
              <a:cs typeface="Courier New"/>
            </a:endParaRPr>
          </a:p>
        </p:txBody>
      </p:sp>
      <p:sp>
        <p:nvSpPr>
          <p:cNvPr id="1907420813" name="Rettangolo 6"/>
          <p:cNvSpPr txBox="1"/>
          <p:nvPr/>
        </p:nvSpPr>
        <p:spPr bwMode="auto">
          <a:xfrm rot="0" flipH="0" flipV="0">
            <a:off x="4537843" y="1949999"/>
            <a:ext cx="4273436" cy="15785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Condizionamento Quantistico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lang="it-IT" sz="1600">
              <a:latin typeface="Libre Baskerville"/>
              <a:ea typeface="Libre Baskerville"/>
              <a:cs typeface="Libre Baskerville"/>
            </a:endParaRPr>
          </a:p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Il circuito a 5 qubit riceve il rumore latente z tramite rotazioni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RY</m:t>
                      </m:r>
                    </m:oMath>
                  </m:oMathPara>
                </a14:m>
              </mc:Choice>
              <mc:Fallback/>
            </mc:AlternateContent>
            <a:r>
              <a:rPr lang="it-IT" sz="1600">
                <a:latin typeface="Libre Baskerville"/>
                <a:ea typeface="Libre Baskerville"/>
                <a:cs typeface="Libre Baskerville"/>
              </a:rPr>
              <a:t> e le coordinate dello scenario vengono iniettate tramite Data Re-Uploading con rotazioni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it-IT" sz="1600" u="none" strike="noStrike" cap="none" spc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RZ</m:t>
                      </m:r>
                    </m:oMath>
                  </m:oMathPara>
                </a14:m>
              </mc:Choice>
              <mc:Fallback/>
            </mc:AlternateContent>
            <a:endParaRPr sz="16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1425610" name="object 2"/>
          <p:cNvGrpSpPr/>
          <p:nvPr/>
        </p:nvGrpSpPr>
        <p:grpSpPr bwMode="auto">
          <a:xfrm>
            <a:off x="-4761" y="60385"/>
            <a:ext cx="3462018" cy="1482088"/>
            <a:chOff x="-4761" y="60385"/>
            <a:chExt cx="3462018" cy="1482088"/>
          </a:xfrm>
        </p:grpSpPr>
        <p:sp>
          <p:nvSpPr>
            <p:cNvPr id="1882050075" name="object 3"/>
            <p:cNvSpPr/>
            <p:nvPr/>
          </p:nvSpPr>
          <p:spPr bwMode="auto">
            <a:xfrm>
              <a:off x="0" y="65151"/>
              <a:ext cx="3318508" cy="1208403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28127030" name="object 4"/>
            <p:cNvSpPr/>
            <p:nvPr/>
          </p:nvSpPr>
          <p:spPr bwMode="auto">
            <a:xfrm>
              <a:off x="503870" y="964692"/>
              <a:ext cx="573403" cy="572769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79450552" name="object 5"/>
            <p:cNvSpPr/>
            <p:nvPr/>
          </p:nvSpPr>
          <p:spPr bwMode="auto">
            <a:xfrm>
              <a:off x="499401" y="959737"/>
              <a:ext cx="582293" cy="582293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8236138" name="object 6"/>
            <p:cNvSpPr/>
            <p:nvPr/>
          </p:nvSpPr>
          <p:spPr bwMode="auto">
            <a:xfrm>
              <a:off x="576298" y="1037207"/>
              <a:ext cx="427988" cy="427352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19045064" name="object 7"/>
            <p:cNvSpPr/>
            <p:nvPr/>
          </p:nvSpPr>
          <p:spPr bwMode="auto">
            <a:xfrm>
              <a:off x="571853" y="1032126"/>
              <a:ext cx="436878" cy="437513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65454570" name="object 8"/>
            <p:cNvSpPr/>
            <p:nvPr/>
          </p:nvSpPr>
          <p:spPr bwMode="auto">
            <a:xfrm>
              <a:off x="655419" y="1115694"/>
              <a:ext cx="270508" cy="270508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613761758" name="object 9"/>
            <p:cNvSpPr/>
            <p:nvPr/>
          </p:nvSpPr>
          <p:spPr bwMode="auto">
            <a:xfrm>
              <a:off x="650430" y="1111248"/>
              <a:ext cx="280035" cy="279398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921883783" name="object 10"/>
            <p:cNvSpPr/>
            <p:nvPr/>
          </p:nvSpPr>
          <p:spPr bwMode="auto">
            <a:xfrm>
              <a:off x="1504820" y="393062"/>
              <a:ext cx="282573" cy="282573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86744460" name="object 11"/>
            <p:cNvSpPr/>
            <p:nvPr/>
          </p:nvSpPr>
          <p:spPr bwMode="auto">
            <a:xfrm>
              <a:off x="1500375" y="388110"/>
              <a:ext cx="292098" cy="292734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025029799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5" y="450468"/>
              <a:ext cx="167764" cy="167764"/>
            </a:xfrm>
            <a:prstGeom prst="rect">
              <a:avLst/>
            </a:prstGeom>
          </p:spPr>
        </p:pic>
        <p:sp>
          <p:nvSpPr>
            <p:cNvPr id="1575158354" name="object 13"/>
            <p:cNvSpPr/>
            <p:nvPr/>
          </p:nvSpPr>
          <p:spPr bwMode="auto">
            <a:xfrm>
              <a:off x="3164076" y="495171"/>
              <a:ext cx="293368" cy="293368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516099641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88" cy="220342"/>
            </a:xfrm>
            <a:prstGeom prst="rect">
              <a:avLst/>
            </a:prstGeom>
          </p:spPr>
        </p:pic>
      </p:grpSp>
      <p:pic>
        <p:nvPicPr>
          <p:cNvPr id="1617152965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2" y="4836195"/>
            <a:ext cx="712315" cy="265477"/>
          </a:xfrm>
          <a:prstGeom prst="rect">
            <a:avLst/>
          </a:prstGeom>
        </p:spPr>
      </p:pic>
      <p:grpSp>
        <p:nvGrpSpPr>
          <p:cNvPr id="781384938" name="object 16"/>
          <p:cNvGrpSpPr/>
          <p:nvPr/>
        </p:nvGrpSpPr>
        <p:grpSpPr bwMode="auto">
          <a:xfrm>
            <a:off x="0" y="4733568"/>
            <a:ext cx="9144000" cy="410206"/>
            <a:chOff x="0" y="4733568"/>
            <a:chExt cx="9144000" cy="410206"/>
          </a:xfrm>
        </p:grpSpPr>
        <p:sp>
          <p:nvSpPr>
            <p:cNvPr id="2131816078" name="object 17"/>
            <p:cNvSpPr/>
            <p:nvPr/>
          </p:nvSpPr>
          <p:spPr bwMode="auto">
            <a:xfrm>
              <a:off x="0" y="473832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525255" name="object 18"/>
            <p:cNvSpPr/>
            <p:nvPr/>
          </p:nvSpPr>
          <p:spPr bwMode="auto">
            <a:xfrm>
              <a:off x="8157906" y="4738329"/>
              <a:ext cx="9523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17971580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718972" y="173092"/>
            <a:ext cx="6301194" cy="539724"/>
          </a:xfrm>
          <a:prstGeom prst="rect">
            <a:avLst/>
          </a:prstGeom>
        </p:spPr>
        <p:txBody>
          <a:bodyPr vert="horz" wrap="square" lIns="0" tIns="173604" rIns="0" bIns="0" rtlCol="0">
            <a:spAutoFit/>
          </a:bodyPr>
          <a:lstStyle/>
          <a:p>
            <a:pPr marL="1402713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7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Ramo QKD: risultati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741817021" name="object 24"/>
          <p:cNvSpPr txBox="1"/>
          <p:nvPr/>
        </p:nvSpPr>
        <p:spPr bwMode="auto">
          <a:xfrm>
            <a:off x="224155" y="4836195"/>
            <a:ext cx="7085530" cy="166093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sp>
        <p:nvSpPr>
          <p:cNvPr id="457492335" name="Rettangolo 20"/>
          <p:cNvSpPr txBox="1"/>
          <p:nvPr/>
        </p:nvSpPr>
        <p:spPr bwMode="auto">
          <a:xfrm rot="0" flipH="0" flipV="0">
            <a:off x="384002" y="2695591"/>
            <a:ext cx="4613484" cy="1646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Scarto rispetto alla baseline reale</a:t>
            </a:r>
            <a:endParaRPr>
              <a:latin typeface="Libre Baskerville"/>
              <a:cs typeface="Libre Baskerville"/>
            </a:endParaRPr>
          </a:p>
          <a:p>
            <a:pPr>
              <a:defRPr/>
            </a:pPr>
            <a:r>
              <a:rPr lang="it-IT" sz="1400">
                <a:latin typeface="Libre Baskerville"/>
                <a:ea typeface="Libre Baskerville"/>
                <a:cs typeface="Libre Baskerville"/>
              </a:rPr>
              <a:t>Prendere le finestre reali di celle adiacenti e traslarne la media stima il canale con molta più precisione della QGAN</a:t>
            </a:r>
            <a:endParaRPr lang="it-IT" sz="1400">
              <a:latin typeface="Libre Baskerville"/>
              <a:ea typeface="Libre Baskerville"/>
              <a:cs typeface="Libre Baskerville"/>
            </a:endParaRPr>
          </a:p>
          <a:p>
            <a:pPr>
              <a:defRPr/>
            </a:pPr>
            <a:endParaRPr sz="1400">
              <a:latin typeface="Libre Baskerville"/>
              <a:cs typeface="Libre Baskerville"/>
            </a:endParaRPr>
          </a:p>
          <a:p>
            <a:pPr>
              <a:defRPr/>
            </a:pPr>
            <a:r>
              <a:rPr lang="it-IT" sz="1400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Scarto negativo: -0,0459 in MAE e -0,0628 in MMD2</a:t>
            </a:r>
            <a:endParaRPr sz="1400">
              <a:solidFill>
                <a:srgbClr val="01ABA9"/>
              </a:solidFill>
              <a:latin typeface="Libre Baskerville"/>
              <a:cs typeface="Libre Baskerville"/>
            </a:endParaRPr>
          </a:p>
        </p:txBody>
      </p:sp>
      <p:pic>
        <p:nvPicPr>
          <p:cNvPr id="11235566" name="Immagine 21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57292" y="2783514"/>
            <a:ext cx="270318" cy="270318"/>
          </a:xfrm>
          <a:prstGeom prst="rect">
            <a:avLst/>
          </a:prstGeom>
        </p:spPr>
      </p:pic>
      <p:sp>
        <p:nvSpPr>
          <p:cNvPr id="896892184" name="Rettangolo 22"/>
          <p:cNvSpPr txBox="1"/>
          <p:nvPr/>
        </p:nvSpPr>
        <p:spPr bwMode="auto">
          <a:xfrm rot="0" flipH="0" flipV="0">
            <a:off x="4445625" y="1441859"/>
            <a:ext cx="4675044" cy="1006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Scomposizione dell’errore</a:t>
            </a:r>
            <a:endParaRPr>
              <a:latin typeface="Libre Baskerville"/>
              <a:cs typeface="Libre Baskerville"/>
            </a:endParaRPr>
          </a:p>
          <a:p>
            <a:pPr>
              <a:defRPr/>
            </a:pPr>
            <a:r>
              <a:rPr lang="it-IT" sz="1400">
                <a:latin typeface="Libre Baskerville"/>
                <a:ea typeface="Libre Baskerville"/>
                <a:cs typeface="Libre Baskerville"/>
              </a:rPr>
              <a:t>Ricentrando i campioni generati sulla media vera della cella esclusa, è emerso che il 99,9% dell’errore totale era un errore di posizione</a:t>
            </a:r>
            <a:endParaRPr lang="it-IT" sz="1400">
              <a:latin typeface="Libre Baskerville"/>
              <a:ea typeface="Libre Baskerville"/>
              <a:cs typeface="Libre Baskerville"/>
            </a:endParaRPr>
          </a:p>
        </p:txBody>
      </p:sp>
      <p:pic>
        <p:nvPicPr>
          <p:cNvPr id="740503039" name="Immagine 24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4180391" y="1441859"/>
            <a:ext cx="265234" cy="2652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9097171" name="object 2"/>
          <p:cNvGrpSpPr/>
          <p:nvPr/>
        </p:nvGrpSpPr>
        <p:grpSpPr bwMode="auto">
          <a:xfrm>
            <a:off x="-4761" y="60386"/>
            <a:ext cx="3462019" cy="1482089"/>
            <a:chOff x="-4761" y="60386"/>
            <a:chExt cx="3462019" cy="1482089"/>
          </a:xfrm>
        </p:grpSpPr>
        <p:sp>
          <p:nvSpPr>
            <p:cNvPr id="1388128856" name="object 3"/>
            <p:cNvSpPr/>
            <p:nvPr/>
          </p:nvSpPr>
          <p:spPr bwMode="auto">
            <a:xfrm>
              <a:off x="0" y="65151"/>
              <a:ext cx="3318509" cy="1208404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8367330" name="object 4"/>
            <p:cNvSpPr/>
            <p:nvPr/>
          </p:nvSpPr>
          <p:spPr bwMode="auto">
            <a:xfrm>
              <a:off x="503871" y="964692"/>
              <a:ext cx="573404" cy="572769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72857820" name="object 5"/>
            <p:cNvSpPr/>
            <p:nvPr/>
          </p:nvSpPr>
          <p:spPr bwMode="auto">
            <a:xfrm>
              <a:off x="499401" y="959738"/>
              <a:ext cx="582294" cy="582294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2428404" name="object 6"/>
            <p:cNvSpPr/>
            <p:nvPr/>
          </p:nvSpPr>
          <p:spPr bwMode="auto">
            <a:xfrm>
              <a:off x="576299" y="1037208"/>
              <a:ext cx="427989" cy="427353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68600162" name="object 7"/>
            <p:cNvSpPr/>
            <p:nvPr/>
          </p:nvSpPr>
          <p:spPr bwMode="auto">
            <a:xfrm>
              <a:off x="571854" y="1032127"/>
              <a:ext cx="436879" cy="437514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36930433" name="object 8"/>
            <p:cNvSpPr/>
            <p:nvPr/>
          </p:nvSpPr>
          <p:spPr bwMode="auto">
            <a:xfrm>
              <a:off x="655420" y="1115694"/>
              <a:ext cx="270509" cy="270509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54128299" name="object 9"/>
            <p:cNvSpPr/>
            <p:nvPr/>
          </p:nvSpPr>
          <p:spPr bwMode="auto">
            <a:xfrm>
              <a:off x="650430" y="1111249"/>
              <a:ext cx="280035" cy="279399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74157428" name="object 10"/>
            <p:cNvSpPr/>
            <p:nvPr/>
          </p:nvSpPr>
          <p:spPr bwMode="auto">
            <a:xfrm>
              <a:off x="1504821" y="393063"/>
              <a:ext cx="282574" cy="282574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92379363" name="object 11"/>
            <p:cNvSpPr/>
            <p:nvPr/>
          </p:nvSpPr>
          <p:spPr bwMode="auto">
            <a:xfrm>
              <a:off x="1500376" y="388111"/>
              <a:ext cx="292099" cy="292734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969045891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6" y="450468"/>
              <a:ext cx="167765" cy="167765"/>
            </a:xfrm>
            <a:prstGeom prst="rect">
              <a:avLst/>
            </a:prstGeom>
          </p:spPr>
        </p:pic>
        <p:sp>
          <p:nvSpPr>
            <p:cNvPr id="413831728" name="object 13"/>
            <p:cNvSpPr/>
            <p:nvPr/>
          </p:nvSpPr>
          <p:spPr bwMode="auto">
            <a:xfrm>
              <a:off x="3164077" y="495171"/>
              <a:ext cx="293369" cy="293369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40321443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89" cy="220343"/>
            </a:xfrm>
            <a:prstGeom prst="rect">
              <a:avLst/>
            </a:prstGeom>
          </p:spPr>
        </p:pic>
      </p:grpSp>
      <p:pic>
        <p:nvPicPr>
          <p:cNvPr id="1000402100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3" y="4836195"/>
            <a:ext cx="712316" cy="265478"/>
          </a:xfrm>
          <a:prstGeom prst="rect">
            <a:avLst/>
          </a:prstGeom>
        </p:spPr>
      </p:pic>
      <p:grpSp>
        <p:nvGrpSpPr>
          <p:cNvPr id="955704431" name="object 16"/>
          <p:cNvGrpSpPr/>
          <p:nvPr/>
        </p:nvGrpSpPr>
        <p:grpSpPr bwMode="auto">
          <a:xfrm>
            <a:off x="0" y="4733568"/>
            <a:ext cx="9144000" cy="410207"/>
            <a:chOff x="0" y="4733568"/>
            <a:chExt cx="9144000" cy="410207"/>
          </a:xfrm>
        </p:grpSpPr>
        <p:sp>
          <p:nvSpPr>
            <p:cNvPr id="727287127" name="object 17"/>
            <p:cNvSpPr/>
            <p:nvPr/>
          </p:nvSpPr>
          <p:spPr bwMode="auto">
            <a:xfrm>
              <a:off x="0" y="473833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93022363" name="object 18"/>
            <p:cNvSpPr/>
            <p:nvPr/>
          </p:nvSpPr>
          <p:spPr bwMode="auto">
            <a:xfrm>
              <a:off x="8157907" y="4738330"/>
              <a:ext cx="9524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4115640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467278" y="245803"/>
            <a:ext cx="6548931" cy="905486"/>
          </a:xfrm>
          <a:prstGeom prst="rect">
            <a:avLst/>
          </a:prstGeom>
        </p:spPr>
        <p:txBody>
          <a:bodyPr vert="horz" wrap="square" lIns="0" tIns="173606" rIns="0" bIns="0" rtlCol="0">
            <a:spAutoFit/>
          </a:bodyPr>
          <a:lstStyle/>
          <a:p>
            <a:pPr marL="1402714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8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Modulo O3: Attribuzione Causale del QBER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1999236213" name="object 24"/>
          <p:cNvSpPr txBox="1"/>
          <p:nvPr/>
        </p:nvSpPr>
        <p:spPr bwMode="auto">
          <a:xfrm>
            <a:off x="224156" y="4836195"/>
            <a:ext cx="7085531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pic>
        <p:nvPicPr>
          <p:cNvPr id="860138086" name="Immagine 21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025681" y="1646326"/>
            <a:ext cx="726830" cy="726830"/>
          </a:xfrm>
          <a:prstGeom prst="rect">
            <a:avLst/>
          </a:prstGeom>
        </p:spPr>
      </p:pic>
      <p:pic>
        <p:nvPicPr>
          <p:cNvPr id="375640261" name="Immagine 2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4250651" y="1658528"/>
            <a:ext cx="587619" cy="587619"/>
          </a:xfrm>
          <a:prstGeom prst="rect">
            <a:avLst/>
          </a:prstGeom>
        </p:spPr>
      </p:pic>
      <p:pic>
        <p:nvPicPr>
          <p:cNvPr id="1176742116" name="Immagine 23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5472782" y="1681128"/>
            <a:ext cx="657225" cy="657225"/>
          </a:xfrm>
          <a:prstGeom prst="rect">
            <a:avLst/>
          </a:prstGeom>
        </p:spPr>
      </p:pic>
      <p:sp>
        <p:nvSpPr>
          <p:cNvPr id="218547372" name="Rettangolo 25"/>
          <p:cNvSpPr/>
          <p:nvPr/>
        </p:nvSpPr>
        <p:spPr bwMode="auto">
          <a:xfrm>
            <a:off x="3025681" y="2280950"/>
            <a:ext cx="496928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eve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642133641" name="Rettangolo 26"/>
          <p:cNvSpPr/>
          <p:nvPr/>
        </p:nvSpPr>
        <p:spPr bwMode="auto">
          <a:xfrm>
            <a:off x="4286026" y="2246147"/>
            <a:ext cx="519028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can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823899841" name="Rettangolo 27"/>
          <p:cNvSpPr/>
          <p:nvPr/>
        </p:nvSpPr>
        <p:spPr bwMode="auto">
          <a:xfrm>
            <a:off x="5563014" y="2246147"/>
            <a:ext cx="477840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riv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pic>
        <p:nvPicPr>
          <p:cNvPr id="2063384299" name="Immagine 28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3835373" y="2412747"/>
            <a:ext cx="171693" cy="171693"/>
          </a:xfrm>
          <a:prstGeom prst="rect">
            <a:avLst/>
          </a:prstGeom>
        </p:spPr>
      </p:pic>
      <p:pic>
        <p:nvPicPr>
          <p:cNvPr id="505955566" name="Immagine 29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5054841" y="2412747"/>
            <a:ext cx="171693" cy="171693"/>
          </a:xfrm>
          <a:prstGeom prst="rect">
            <a:avLst/>
          </a:prstGeom>
        </p:spPr>
      </p:pic>
      <p:sp>
        <p:nvSpPr>
          <p:cNvPr id="276531771" name="Rettangolo 30"/>
          <p:cNvSpPr txBox="1"/>
          <p:nvPr/>
        </p:nvSpPr>
        <p:spPr bwMode="auto">
          <a:xfrm rot="0" flipH="0" flipV="0">
            <a:off x="586616" y="3026465"/>
            <a:ext cx="7719076" cy="15667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Abbiamo sfruttato la tecnica </a:t>
            </a: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Common Random Numbers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di NetSquid per isolare le tre cause di errore all’interno del canale senza fermare la trasmissione.</a:t>
            </a:r>
            <a:endParaRPr sz="1600">
              <a:latin typeface="Libre Baskerville"/>
              <a:cs typeface="Libre Baskerville"/>
            </a:endParaRPr>
          </a:p>
          <a:p>
            <a:pPr>
              <a:defRPr/>
            </a:pPr>
            <a:endParaRPr sz="1600">
              <a:latin typeface="Libre Baskerville"/>
              <a:cs typeface="Libre Baskerville"/>
            </a:endParaRPr>
          </a:p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Confrontando i bit, abbiamo individuato l’errore finale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6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oss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1600">
                <a:latin typeface="Libre Baskerville"/>
                <a:ea typeface="Libre Baskerville"/>
                <a:cs typeface="Libre Baskerville"/>
              </a:rPr>
              <a:t>, ossia l’XOR delle tre cause singole</a:t>
            </a:r>
            <a:endParaRPr sz="16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6775252" name="object 2"/>
          <p:cNvGrpSpPr/>
          <p:nvPr/>
        </p:nvGrpSpPr>
        <p:grpSpPr bwMode="auto">
          <a:xfrm>
            <a:off x="-4761" y="60385"/>
            <a:ext cx="3462018" cy="1482088"/>
            <a:chOff x="-4761" y="60385"/>
            <a:chExt cx="3462018" cy="1482088"/>
          </a:xfrm>
        </p:grpSpPr>
        <p:sp>
          <p:nvSpPr>
            <p:cNvPr id="1343485858" name="object 3"/>
            <p:cNvSpPr/>
            <p:nvPr/>
          </p:nvSpPr>
          <p:spPr bwMode="auto">
            <a:xfrm>
              <a:off x="0" y="65151"/>
              <a:ext cx="3318508" cy="1208403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67691692" name="object 4"/>
            <p:cNvSpPr/>
            <p:nvPr/>
          </p:nvSpPr>
          <p:spPr bwMode="auto">
            <a:xfrm>
              <a:off x="503870" y="964692"/>
              <a:ext cx="573403" cy="572769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22811018" name="object 5"/>
            <p:cNvSpPr/>
            <p:nvPr/>
          </p:nvSpPr>
          <p:spPr bwMode="auto">
            <a:xfrm>
              <a:off x="499401" y="959737"/>
              <a:ext cx="582293" cy="582293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08757439" name="object 6"/>
            <p:cNvSpPr/>
            <p:nvPr/>
          </p:nvSpPr>
          <p:spPr bwMode="auto">
            <a:xfrm>
              <a:off x="576298" y="1037207"/>
              <a:ext cx="427988" cy="427352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81629068" name="object 7"/>
            <p:cNvSpPr/>
            <p:nvPr/>
          </p:nvSpPr>
          <p:spPr bwMode="auto">
            <a:xfrm>
              <a:off x="571853" y="1032126"/>
              <a:ext cx="436878" cy="437513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2145911321" name="object 8"/>
            <p:cNvSpPr/>
            <p:nvPr/>
          </p:nvSpPr>
          <p:spPr bwMode="auto">
            <a:xfrm>
              <a:off x="655419" y="1115694"/>
              <a:ext cx="270508" cy="270508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52524201" name="object 9"/>
            <p:cNvSpPr/>
            <p:nvPr/>
          </p:nvSpPr>
          <p:spPr bwMode="auto">
            <a:xfrm>
              <a:off x="650430" y="1111248"/>
              <a:ext cx="280035" cy="279398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822857439" name="object 10"/>
            <p:cNvSpPr/>
            <p:nvPr/>
          </p:nvSpPr>
          <p:spPr bwMode="auto">
            <a:xfrm>
              <a:off x="1504820" y="393062"/>
              <a:ext cx="282573" cy="282573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55266598" name="object 11"/>
            <p:cNvSpPr/>
            <p:nvPr/>
          </p:nvSpPr>
          <p:spPr bwMode="auto">
            <a:xfrm>
              <a:off x="1500375" y="388110"/>
              <a:ext cx="292098" cy="292734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747271242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5" y="450468"/>
              <a:ext cx="167764" cy="167764"/>
            </a:xfrm>
            <a:prstGeom prst="rect">
              <a:avLst/>
            </a:prstGeom>
          </p:spPr>
        </p:pic>
        <p:sp>
          <p:nvSpPr>
            <p:cNvPr id="1904301503" name="object 13"/>
            <p:cNvSpPr/>
            <p:nvPr/>
          </p:nvSpPr>
          <p:spPr bwMode="auto">
            <a:xfrm>
              <a:off x="3164076" y="495171"/>
              <a:ext cx="293368" cy="293368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266043236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88" cy="220342"/>
            </a:xfrm>
            <a:prstGeom prst="rect">
              <a:avLst/>
            </a:prstGeom>
          </p:spPr>
        </p:pic>
      </p:grpSp>
      <p:pic>
        <p:nvPicPr>
          <p:cNvPr id="1532546436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2" y="4836195"/>
            <a:ext cx="712315" cy="265477"/>
          </a:xfrm>
          <a:prstGeom prst="rect">
            <a:avLst/>
          </a:prstGeom>
        </p:spPr>
      </p:pic>
      <p:grpSp>
        <p:nvGrpSpPr>
          <p:cNvPr id="305381043" name="object 16"/>
          <p:cNvGrpSpPr/>
          <p:nvPr/>
        </p:nvGrpSpPr>
        <p:grpSpPr bwMode="auto">
          <a:xfrm>
            <a:off x="0" y="4733568"/>
            <a:ext cx="9144000" cy="410206"/>
            <a:chOff x="0" y="4733568"/>
            <a:chExt cx="9144000" cy="410206"/>
          </a:xfrm>
        </p:grpSpPr>
        <p:sp>
          <p:nvSpPr>
            <p:cNvPr id="970901954" name="object 17"/>
            <p:cNvSpPr/>
            <p:nvPr/>
          </p:nvSpPr>
          <p:spPr bwMode="auto">
            <a:xfrm>
              <a:off x="0" y="473832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21866011" name="object 18"/>
            <p:cNvSpPr/>
            <p:nvPr/>
          </p:nvSpPr>
          <p:spPr bwMode="auto">
            <a:xfrm>
              <a:off x="8157906" y="4738329"/>
              <a:ext cx="9523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28632386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467278" y="245802"/>
            <a:ext cx="6548931" cy="905485"/>
          </a:xfrm>
          <a:prstGeom prst="rect">
            <a:avLst/>
          </a:prstGeom>
        </p:spPr>
        <p:txBody>
          <a:bodyPr vert="horz" wrap="square" lIns="0" tIns="173605" rIns="0" bIns="0" rtlCol="0">
            <a:spAutoFit/>
          </a:bodyPr>
          <a:lstStyle/>
          <a:p>
            <a:pPr marL="1402713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7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Modulo O3: Attribuzione Causale del QBER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910659368" name="object 24"/>
          <p:cNvSpPr txBox="1"/>
          <p:nvPr/>
        </p:nvSpPr>
        <p:spPr bwMode="auto">
          <a:xfrm>
            <a:off x="224155" y="4836195"/>
            <a:ext cx="7085530" cy="166093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pic>
        <p:nvPicPr>
          <p:cNvPr id="1763176530" name="Immagine 21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3025681" y="1646326"/>
            <a:ext cx="726830" cy="726830"/>
          </a:xfrm>
          <a:prstGeom prst="rect">
            <a:avLst/>
          </a:prstGeom>
        </p:spPr>
      </p:pic>
      <p:pic>
        <p:nvPicPr>
          <p:cNvPr id="1617787259" name="Immagine 22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4250651" y="1658528"/>
            <a:ext cx="587619" cy="587619"/>
          </a:xfrm>
          <a:prstGeom prst="rect">
            <a:avLst/>
          </a:prstGeom>
        </p:spPr>
      </p:pic>
      <p:pic>
        <p:nvPicPr>
          <p:cNvPr id="922181416" name="Immagine 23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5472782" y="1681128"/>
            <a:ext cx="657225" cy="657225"/>
          </a:xfrm>
          <a:prstGeom prst="rect">
            <a:avLst/>
          </a:prstGeom>
        </p:spPr>
      </p:pic>
      <p:sp>
        <p:nvSpPr>
          <p:cNvPr id="120052454" name="Rettangolo 25"/>
          <p:cNvSpPr/>
          <p:nvPr/>
        </p:nvSpPr>
        <p:spPr bwMode="auto">
          <a:xfrm>
            <a:off x="3025681" y="2280950"/>
            <a:ext cx="496928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eve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3186471" name="Rettangolo 26"/>
          <p:cNvSpPr/>
          <p:nvPr/>
        </p:nvSpPr>
        <p:spPr bwMode="auto">
          <a:xfrm>
            <a:off x="4286026" y="2246147"/>
            <a:ext cx="519028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can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sp>
        <p:nvSpPr>
          <p:cNvPr id="1947482587" name="Rettangolo 27"/>
          <p:cNvSpPr/>
          <p:nvPr/>
        </p:nvSpPr>
        <p:spPr bwMode="auto">
          <a:xfrm>
            <a:off x="5563014" y="2246147"/>
            <a:ext cx="477840" cy="64044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sz="18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18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riv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>
              <a:latin typeface="Cambria Math"/>
              <a:ea typeface="Cambria Math"/>
              <a:cs typeface="Cambria Math"/>
            </a:endParaRPr>
          </a:p>
          <a:p>
            <a:pPr algn="ctr">
              <a:defRPr/>
            </a:pPr>
            <a:endParaRPr>
              <a:latin typeface="Cambria Math"/>
              <a:ea typeface="Cambria Math"/>
              <a:cs typeface="Cambria Math"/>
            </a:endParaRPr>
          </a:p>
        </p:txBody>
      </p:sp>
      <p:pic>
        <p:nvPicPr>
          <p:cNvPr id="806390181" name="Immagine 28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3835373" y="2412747"/>
            <a:ext cx="171693" cy="171693"/>
          </a:xfrm>
          <a:prstGeom prst="rect">
            <a:avLst/>
          </a:prstGeom>
        </p:spPr>
      </p:pic>
      <p:pic>
        <p:nvPicPr>
          <p:cNvPr id="1332201825" name="Immagine 29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5054841" y="2412747"/>
            <a:ext cx="171693" cy="171693"/>
          </a:xfrm>
          <a:prstGeom prst="rect">
            <a:avLst/>
          </a:prstGeom>
        </p:spPr>
      </p:pic>
      <p:sp>
        <p:nvSpPr>
          <p:cNvPr id="1663297541" name="Rettangolo 30"/>
          <p:cNvSpPr txBox="1"/>
          <p:nvPr/>
        </p:nvSpPr>
        <p:spPr bwMode="auto">
          <a:xfrm rot="0" flipH="0" flipV="0">
            <a:off x="586616" y="3026465"/>
            <a:ext cx="7719076" cy="15667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Abbiamo sfruttato la tecnica </a:t>
            </a: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Common Random Numbers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di NetSquid per isolare le tre cause di errore all’interno del canale senza fermare la trasmissione.</a:t>
            </a:r>
            <a:endParaRPr sz="1600">
              <a:latin typeface="Libre Baskerville"/>
              <a:cs typeface="Libre Baskerville"/>
            </a:endParaRPr>
          </a:p>
          <a:p>
            <a:pPr>
              <a:defRPr/>
            </a:pPr>
            <a:endParaRPr sz="1600">
              <a:latin typeface="Libre Baskerville"/>
              <a:cs typeface="Libre Baskerville"/>
            </a:endParaRPr>
          </a:p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Confrontando i bit, abbiamo individuato l’errore finale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it-IT" sz="1600" b="0" i="1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it-IT" sz="1600" u="none" strike="noStrike" cap="none" spc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oss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it-IT" sz="1600">
                <a:latin typeface="Libre Baskerville"/>
                <a:ea typeface="Libre Baskerville"/>
                <a:cs typeface="Libre Baskerville"/>
              </a:rPr>
              <a:t>, ossia l’XOR delle tre cause singole</a:t>
            </a:r>
            <a:endParaRPr sz="16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9973572" name="object 2"/>
          <p:cNvGrpSpPr/>
          <p:nvPr/>
        </p:nvGrpSpPr>
        <p:grpSpPr bwMode="auto">
          <a:xfrm>
            <a:off x="-4761" y="60385"/>
            <a:ext cx="3462018" cy="1482088"/>
            <a:chOff x="-4761" y="60385"/>
            <a:chExt cx="3462018" cy="1482088"/>
          </a:xfrm>
        </p:grpSpPr>
        <p:sp>
          <p:nvSpPr>
            <p:cNvPr id="60745346" name="object 3"/>
            <p:cNvSpPr/>
            <p:nvPr/>
          </p:nvSpPr>
          <p:spPr bwMode="auto">
            <a:xfrm>
              <a:off x="0" y="65151"/>
              <a:ext cx="3318508" cy="1208403"/>
            </a:xfrm>
            <a:custGeom>
              <a:avLst/>
              <a:gdLst/>
              <a:ahLst/>
              <a:cxnLst/>
              <a:rect l="l" t="t" r="r" b="b"/>
              <a:pathLst>
                <a:path w="3318510" h="1208405" fill="norm" stroke="1" extrusionOk="0">
                  <a:moveTo>
                    <a:pt x="1645920" y="457962"/>
                  </a:moveTo>
                  <a:lnTo>
                    <a:pt x="3318383" y="583946"/>
                  </a:lnTo>
                </a:path>
                <a:path w="3318510" h="1208405" fill="norm" stroke="1" extrusionOk="0">
                  <a:moveTo>
                    <a:pt x="803046" y="1207897"/>
                  </a:moveTo>
                  <a:lnTo>
                    <a:pt x="1632585" y="464565"/>
                  </a:lnTo>
                </a:path>
                <a:path w="3318510" h="1208405" fill="norm" stroke="1" extrusionOk="0">
                  <a:moveTo>
                    <a:pt x="0" y="0"/>
                  </a:moveTo>
                  <a:lnTo>
                    <a:pt x="796505" y="1188085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85168592" name="object 4"/>
            <p:cNvSpPr/>
            <p:nvPr/>
          </p:nvSpPr>
          <p:spPr bwMode="auto">
            <a:xfrm>
              <a:off x="503870" y="964692"/>
              <a:ext cx="573403" cy="572769"/>
            </a:xfrm>
            <a:custGeom>
              <a:avLst/>
              <a:gdLst/>
              <a:ahLst/>
              <a:cxnLst/>
              <a:rect l="l" t="t" r="r" b="b"/>
              <a:pathLst>
                <a:path w="573405" h="572769" fill="norm" stroke="1" extrusionOk="0">
                  <a:moveTo>
                    <a:pt x="286423" y="0"/>
                  </a:moveTo>
                  <a:lnTo>
                    <a:pt x="239944" y="3745"/>
                  </a:lnTo>
                  <a:lnTo>
                    <a:pt x="195860" y="14588"/>
                  </a:lnTo>
                  <a:lnTo>
                    <a:pt x="154759" y="31937"/>
                  </a:lnTo>
                  <a:lnTo>
                    <a:pt x="117230" y="55201"/>
                  </a:lnTo>
                  <a:lnTo>
                    <a:pt x="83861" y="83788"/>
                  </a:lnTo>
                  <a:lnTo>
                    <a:pt x="55239" y="117107"/>
                  </a:lnTo>
                  <a:lnTo>
                    <a:pt x="31954" y="154566"/>
                  </a:lnTo>
                  <a:lnTo>
                    <a:pt x="14594" y="195575"/>
                  </a:lnTo>
                  <a:lnTo>
                    <a:pt x="3746" y="239543"/>
                  </a:lnTo>
                  <a:lnTo>
                    <a:pt x="0" y="285877"/>
                  </a:lnTo>
                  <a:lnTo>
                    <a:pt x="3746" y="332348"/>
                  </a:lnTo>
                  <a:lnTo>
                    <a:pt x="14594" y="376425"/>
                  </a:lnTo>
                  <a:lnTo>
                    <a:pt x="31954" y="417520"/>
                  </a:lnTo>
                  <a:lnTo>
                    <a:pt x="55239" y="455045"/>
                  </a:lnTo>
                  <a:lnTo>
                    <a:pt x="83861" y="488410"/>
                  </a:lnTo>
                  <a:lnTo>
                    <a:pt x="117230" y="517028"/>
                  </a:lnTo>
                  <a:lnTo>
                    <a:pt x="154759" y="540310"/>
                  </a:lnTo>
                  <a:lnTo>
                    <a:pt x="195860" y="557669"/>
                  </a:lnTo>
                  <a:lnTo>
                    <a:pt x="239944" y="568515"/>
                  </a:lnTo>
                  <a:lnTo>
                    <a:pt x="286423" y="572262"/>
                  </a:lnTo>
                  <a:lnTo>
                    <a:pt x="332898" y="568515"/>
                  </a:lnTo>
                  <a:lnTo>
                    <a:pt x="376980" y="557669"/>
                  </a:lnTo>
                  <a:lnTo>
                    <a:pt x="418080" y="540310"/>
                  </a:lnTo>
                  <a:lnTo>
                    <a:pt x="455610" y="517028"/>
                  </a:lnTo>
                  <a:lnTo>
                    <a:pt x="488980" y="488410"/>
                  </a:lnTo>
                  <a:lnTo>
                    <a:pt x="517602" y="455045"/>
                  </a:lnTo>
                  <a:lnTo>
                    <a:pt x="540888" y="417520"/>
                  </a:lnTo>
                  <a:lnTo>
                    <a:pt x="558250" y="376425"/>
                  </a:lnTo>
                  <a:lnTo>
                    <a:pt x="569099" y="332348"/>
                  </a:lnTo>
                  <a:lnTo>
                    <a:pt x="572846" y="285877"/>
                  </a:lnTo>
                  <a:lnTo>
                    <a:pt x="569099" y="239543"/>
                  </a:lnTo>
                  <a:lnTo>
                    <a:pt x="558250" y="195575"/>
                  </a:lnTo>
                  <a:lnTo>
                    <a:pt x="540888" y="154566"/>
                  </a:lnTo>
                  <a:lnTo>
                    <a:pt x="517602" y="117107"/>
                  </a:lnTo>
                  <a:lnTo>
                    <a:pt x="488980" y="83788"/>
                  </a:lnTo>
                  <a:lnTo>
                    <a:pt x="455610" y="55201"/>
                  </a:lnTo>
                  <a:lnTo>
                    <a:pt x="418080" y="31937"/>
                  </a:lnTo>
                  <a:lnTo>
                    <a:pt x="376980" y="14588"/>
                  </a:lnTo>
                  <a:lnTo>
                    <a:pt x="332898" y="3745"/>
                  </a:lnTo>
                  <a:lnTo>
                    <a:pt x="286423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76982959" name="object 5"/>
            <p:cNvSpPr/>
            <p:nvPr/>
          </p:nvSpPr>
          <p:spPr bwMode="auto">
            <a:xfrm>
              <a:off x="499401" y="959737"/>
              <a:ext cx="582293" cy="582293"/>
            </a:xfrm>
            <a:custGeom>
              <a:avLst/>
              <a:gdLst/>
              <a:ahLst/>
              <a:cxnLst/>
              <a:rect l="l" t="t" r="r" b="b"/>
              <a:pathLst>
                <a:path w="582294" h="582294" fill="norm" stroke="1" extrusionOk="0">
                  <a:moveTo>
                    <a:pt x="290893" y="0"/>
                  </a:moveTo>
                  <a:lnTo>
                    <a:pt x="243749" y="3808"/>
                  </a:lnTo>
                  <a:lnTo>
                    <a:pt x="199012" y="14835"/>
                  </a:lnTo>
                  <a:lnTo>
                    <a:pt x="157284" y="32479"/>
                  </a:lnTo>
                  <a:lnTo>
                    <a:pt x="119167" y="56140"/>
                  </a:lnTo>
                  <a:lnTo>
                    <a:pt x="85263" y="85216"/>
                  </a:lnTo>
                  <a:lnTo>
                    <a:pt x="56173" y="119109"/>
                  </a:lnTo>
                  <a:lnTo>
                    <a:pt x="32500" y="157217"/>
                  </a:lnTo>
                  <a:lnTo>
                    <a:pt x="14845" y="198940"/>
                  </a:lnTo>
                  <a:lnTo>
                    <a:pt x="3811" y="243678"/>
                  </a:lnTo>
                  <a:lnTo>
                    <a:pt x="0" y="290830"/>
                  </a:lnTo>
                  <a:lnTo>
                    <a:pt x="3811" y="338122"/>
                  </a:lnTo>
                  <a:lnTo>
                    <a:pt x="14845" y="382980"/>
                  </a:lnTo>
                  <a:lnTo>
                    <a:pt x="32500" y="424803"/>
                  </a:lnTo>
                  <a:lnTo>
                    <a:pt x="56173" y="462993"/>
                  </a:lnTo>
                  <a:lnTo>
                    <a:pt x="85263" y="496951"/>
                  </a:lnTo>
                  <a:lnTo>
                    <a:pt x="119167" y="526077"/>
                  </a:lnTo>
                  <a:lnTo>
                    <a:pt x="157284" y="549774"/>
                  </a:lnTo>
                  <a:lnTo>
                    <a:pt x="199012" y="567442"/>
                  </a:lnTo>
                  <a:lnTo>
                    <a:pt x="243749" y="578481"/>
                  </a:lnTo>
                  <a:lnTo>
                    <a:pt x="290893" y="582295"/>
                  </a:lnTo>
                  <a:lnTo>
                    <a:pt x="338034" y="578481"/>
                  </a:lnTo>
                  <a:lnTo>
                    <a:pt x="361179" y="572770"/>
                  </a:lnTo>
                  <a:lnTo>
                    <a:pt x="290893" y="572770"/>
                  </a:lnTo>
                  <a:lnTo>
                    <a:pt x="234024" y="567017"/>
                  </a:lnTo>
                  <a:lnTo>
                    <a:pt x="181176" y="550560"/>
                  </a:lnTo>
                  <a:lnTo>
                    <a:pt x="133450" y="524603"/>
                  </a:lnTo>
                  <a:lnTo>
                    <a:pt x="91948" y="490347"/>
                  </a:lnTo>
                  <a:lnTo>
                    <a:pt x="57431" y="448492"/>
                  </a:lnTo>
                  <a:lnTo>
                    <a:pt x="31484" y="400589"/>
                  </a:lnTo>
                  <a:lnTo>
                    <a:pt x="15150" y="347686"/>
                  </a:lnTo>
                  <a:lnTo>
                    <a:pt x="9474" y="290830"/>
                  </a:lnTo>
                  <a:lnTo>
                    <a:pt x="15150" y="234197"/>
                  </a:lnTo>
                  <a:lnTo>
                    <a:pt x="31484" y="181340"/>
                  </a:lnTo>
                  <a:lnTo>
                    <a:pt x="57431" y="133506"/>
                  </a:lnTo>
                  <a:lnTo>
                    <a:pt x="91948" y="91948"/>
                  </a:lnTo>
                  <a:lnTo>
                    <a:pt x="133450" y="57404"/>
                  </a:lnTo>
                  <a:lnTo>
                    <a:pt x="181176" y="31432"/>
                  </a:lnTo>
                  <a:lnTo>
                    <a:pt x="234024" y="15081"/>
                  </a:lnTo>
                  <a:lnTo>
                    <a:pt x="290893" y="9398"/>
                  </a:lnTo>
                  <a:lnTo>
                    <a:pt x="360708" y="9398"/>
                  </a:lnTo>
                  <a:lnTo>
                    <a:pt x="338034" y="3808"/>
                  </a:lnTo>
                  <a:lnTo>
                    <a:pt x="290893" y="0"/>
                  </a:lnTo>
                  <a:close/>
                </a:path>
                <a:path w="582294" h="582294" fill="norm" stroke="1" extrusionOk="0">
                  <a:moveTo>
                    <a:pt x="360708" y="9398"/>
                  </a:moveTo>
                  <a:lnTo>
                    <a:pt x="290893" y="9398"/>
                  </a:lnTo>
                  <a:lnTo>
                    <a:pt x="347763" y="15081"/>
                  </a:lnTo>
                  <a:lnTo>
                    <a:pt x="400667" y="31432"/>
                  </a:lnTo>
                  <a:lnTo>
                    <a:pt x="448554" y="57404"/>
                  </a:lnTo>
                  <a:lnTo>
                    <a:pt x="490372" y="91948"/>
                  </a:lnTo>
                  <a:lnTo>
                    <a:pt x="524658" y="133506"/>
                  </a:lnTo>
                  <a:lnTo>
                    <a:pt x="550630" y="181340"/>
                  </a:lnTo>
                  <a:lnTo>
                    <a:pt x="567092" y="234197"/>
                  </a:lnTo>
                  <a:lnTo>
                    <a:pt x="572846" y="290830"/>
                  </a:lnTo>
                  <a:lnTo>
                    <a:pt x="567092" y="347686"/>
                  </a:lnTo>
                  <a:lnTo>
                    <a:pt x="550630" y="400589"/>
                  </a:lnTo>
                  <a:lnTo>
                    <a:pt x="524658" y="448492"/>
                  </a:lnTo>
                  <a:lnTo>
                    <a:pt x="490372" y="490347"/>
                  </a:lnTo>
                  <a:lnTo>
                    <a:pt x="448554" y="524603"/>
                  </a:lnTo>
                  <a:lnTo>
                    <a:pt x="400667" y="550560"/>
                  </a:lnTo>
                  <a:lnTo>
                    <a:pt x="347763" y="567017"/>
                  </a:lnTo>
                  <a:lnTo>
                    <a:pt x="290893" y="572770"/>
                  </a:lnTo>
                  <a:lnTo>
                    <a:pt x="361179" y="572770"/>
                  </a:lnTo>
                  <a:lnTo>
                    <a:pt x="424494" y="549774"/>
                  </a:lnTo>
                  <a:lnTo>
                    <a:pt x="462609" y="526077"/>
                  </a:lnTo>
                  <a:lnTo>
                    <a:pt x="496512" y="496951"/>
                  </a:lnTo>
                  <a:lnTo>
                    <a:pt x="525601" y="462993"/>
                  </a:lnTo>
                  <a:lnTo>
                    <a:pt x="549274" y="424803"/>
                  </a:lnTo>
                  <a:lnTo>
                    <a:pt x="566928" y="382980"/>
                  </a:lnTo>
                  <a:lnTo>
                    <a:pt x="577962" y="338122"/>
                  </a:lnTo>
                  <a:lnTo>
                    <a:pt x="581774" y="290830"/>
                  </a:lnTo>
                  <a:lnTo>
                    <a:pt x="577962" y="243678"/>
                  </a:lnTo>
                  <a:lnTo>
                    <a:pt x="566928" y="198940"/>
                  </a:lnTo>
                  <a:lnTo>
                    <a:pt x="549274" y="157217"/>
                  </a:lnTo>
                  <a:lnTo>
                    <a:pt x="525601" y="119109"/>
                  </a:lnTo>
                  <a:lnTo>
                    <a:pt x="496512" y="85216"/>
                  </a:lnTo>
                  <a:lnTo>
                    <a:pt x="462609" y="56140"/>
                  </a:lnTo>
                  <a:lnTo>
                    <a:pt x="424494" y="32479"/>
                  </a:lnTo>
                  <a:lnTo>
                    <a:pt x="382768" y="14835"/>
                  </a:lnTo>
                  <a:lnTo>
                    <a:pt x="360708" y="9398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77485565" name="object 6"/>
            <p:cNvSpPr/>
            <p:nvPr/>
          </p:nvSpPr>
          <p:spPr bwMode="auto">
            <a:xfrm>
              <a:off x="576298" y="1037207"/>
              <a:ext cx="427988" cy="427352"/>
            </a:xfrm>
            <a:custGeom>
              <a:avLst/>
              <a:gdLst/>
              <a:ahLst/>
              <a:cxnLst/>
              <a:rect l="l" t="t" r="r" b="b"/>
              <a:pathLst>
                <a:path w="427990" h="427355" fill="norm" stroke="1" extrusionOk="0">
                  <a:moveTo>
                    <a:pt x="213995" y="0"/>
                  </a:moveTo>
                  <a:lnTo>
                    <a:pt x="164939" y="5620"/>
                  </a:lnTo>
                  <a:lnTo>
                    <a:pt x="119902" y="21638"/>
                  </a:lnTo>
                  <a:lnTo>
                    <a:pt x="80168" y="46786"/>
                  </a:lnTo>
                  <a:lnTo>
                    <a:pt x="47024" y="79798"/>
                  </a:lnTo>
                  <a:lnTo>
                    <a:pt x="21757" y="119409"/>
                  </a:lnTo>
                  <a:lnTo>
                    <a:pt x="5653" y="164352"/>
                  </a:lnTo>
                  <a:lnTo>
                    <a:pt x="0" y="213360"/>
                  </a:lnTo>
                  <a:lnTo>
                    <a:pt x="5653" y="262403"/>
                  </a:lnTo>
                  <a:lnTo>
                    <a:pt x="21757" y="307436"/>
                  </a:lnTo>
                  <a:lnTo>
                    <a:pt x="47024" y="347170"/>
                  </a:lnTo>
                  <a:lnTo>
                    <a:pt x="80168" y="380318"/>
                  </a:lnTo>
                  <a:lnTo>
                    <a:pt x="119902" y="405590"/>
                  </a:lnTo>
                  <a:lnTo>
                    <a:pt x="164939" y="421699"/>
                  </a:lnTo>
                  <a:lnTo>
                    <a:pt x="213995" y="427354"/>
                  </a:lnTo>
                  <a:lnTo>
                    <a:pt x="263045" y="421699"/>
                  </a:lnTo>
                  <a:lnTo>
                    <a:pt x="308079" y="405590"/>
                  </a:lnTo>
                  <a:lnTo>
                    <a:pt x="347811" y="380318"/>
                  </a:lnTo>
                  <a:lnTo>
                    <a:pt x="380954" y="347170"/>
                  </a:lnTo>
                  <a:lnTo>
                    <a:pt x="406220" y="307436"/>
                  </a:lnTo>
                  <a:lnTo>
                    <a:pt x="422323" y="262403"/>
                  </a:lnTo>
                  <a:lnTo>
                    <a:pt x="427977" y="213360"/>
                  </a:lnTo>
                  <a:lnTo>
                    <a:pt x="422323" y="164352"/>
                  </a:lnTo>
                  <a:lnTo>
                    <a:pt x="406220" y="119409"/>
                  </a:lnTo>
                  <a:lnTo>
                    <a:pt x="380954" y="79798"/>
                  </a:lnTo>
                  <a:lnTo>
                    <a:pt x="347811" y="46786"/>
                  </a:lnTo>
                  <a:lnTo>
                    <a:pt x="308079" y="21638"/>
                  </a:lnTo>
                  <a:lnTo>
                    <a:pt x="263045" y="5620"/>
                  </a:lnTo>
                  <a:lnTo>
                    <a:pt x="213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634666510" name="object 7"/>
            <p:cNvSpPr/>
            <p:nvPr/>
          </p:nvSpPr>
          <p:spPr bwMode="auto">
            <a:xfrm>
              <a:off x="571853" y="1032126"/>
              <a:ext cx="436878" cy="437513"/>
            </a:xfrm>
            <a:custGeom>
              <a:avLst/>
              <a:gdLst/>
              <a:ahLst/>
              <a:cxnLst/>
              <a:rect l="l" t="t" r="r" b="b"/>
              <a:pathLst>
                <a:path w="436880" h="437515" fill="norm" stroke="1" extrusionOk="0">
                  <a:moveTo>
                    <a:pt x="218440" y="0"/>
                  </a:moveTo>
                  <a:lnTo>
                    <a:pt x="168438" y="5782"/>
                  </a:lnTo>
                  <a:lnTo>
                    <a:pt x="122493" y="22245"/>
                  </a:lnTo>
                  <a:lnTo>
                    <a:pt x="81930" y="48065"/>
                  </a:lnTo>
                  <a:lnTo>
                    <a:pt x="48073" y="81919"/>
                  </a:lnTo>
                  <a:lnTo>
                    <a:pt x="22249" y="122482"/>
                  </a:lnTo>
                  <a:lnTo>
                    <a:pt x="5783" y="168430"/>
                  </a:lnTo>
                  <a:lnTo>
                    <a:pt x="0" y="218440"/>
                  </a:lnTo>
                  <a:lnTo>
                    <a:pt x="5783" y="268637"/>
                  </a:lnTo>
                  <a:lnTo>
                    <a:pt x="22249" y="314720"/>
                  </a:lnTo>
                  <a:lnTo>
                    <a:pt x="48073" y="355373"/>
                  </a:lnTo>
                  <a:lnTo>
                    <a:pt x="81930" y="389282"/>
                  </a:lnTo>
                  <a:lnTo>
                    <a:pt x="122493" y="415130"/>
                  </a:lnTo>
                  <a:lnTo>
                    <a:pt x="168438" y="431604"/>
                  </a:lnTo>
                  <a:lnTo>
                    <a:pt x="218440" y="437388"/>
                  </a:lnTo>
                  <a:lnTo>
                    <a:pt x="268616" y="431604"/>
                  </a:lnTo>
                  <a:lnTo>
                    <a:pt x="278711" y="427990"/>
                  </a:lnTo>
                  <a:lnTo>
                    <a:pt x="218440" y="427990"/>
                  </a:lnTo>
                  <a:lnTo>
                    <a:pt x="176234" y="423745"/>
                  </a:lnTo>
                  <a:lnTo>
                    <a:pt x="137067" y="411559"/>
                  </a:lnTo>
                  <a:lnTo>
                    <a:pt x="101668" y="392253"/>
                  </a:lnTo>
                  <a:lnTo>
                    <a:pt x="70764" y="366649"/>
                  </a:lnTo>
                  <a:lnTo>
                    <a:pt x="45200" y="335668"/>
                  </a:lnTo>
                  <a:lnTo>
                    <a:pt x="25907" y="300069"/>
                  </a:lnTo>
                  <a:lnTo>
                    <a:pt x="13721" y="260707"/>
                  </a:lnTo>
                  <a:lnTo>
                    <a:pt x="9474" y="218440"/>
                  </a:lnTo>
                  <a:lnTo>
                    <a:pt x="13721" y="176484"/>
                  </a:lnTo>
                  <a:lnTo>
                    <a:pt x="25908" y="137302"/>
                  </a:lnTo>
                  <a:lnTo>
                    <a:pt x="45200" y="101764"/>
                  </a:lnTo>
                  <a:lnTo>
                    <a:pt x="70764" y="70738"/>
                  </a:lnTo>
                  <a:lnTo>
                    <a:pt x="101668" y="45208"/>
                  </a:lnTo>
                  <a:lnTo>
                    <a:pt x="137067" y="25939"/>
                  </a:lnTo>
                  <a:lnTo>
                    <a:pt x="176234" y="13767"/>
                  </a:lnTo>
                  <a:lnTo>
                    <a:pt x="218440" y="9525"/>
                  </a:lnTo>
                  <a:lnTo>
                    <a:pt x="279077" y="9525"/>
                  </a:lnTo>
                  <a:lnTo>
                    <a:pt x="268616" y="5782"/>
                  </a:lnTo>
                  <a:lnTo>
                    <a:pt x="218440" y="0"/>
                  </a:lnTo>
                  <a:close/>
                </a:path>
                <a:path w="436880" h="437515" fill="norm" stroke="1" extrusionOk="0">
                  <a:moveTo>
                    <a:pt x="279077" y="9525"/>
                  </a:moveTo>
                  <a:lnTo>
                    <a:pt x="218440" y="9525"/>
                  </a:lnTo>
                  <a:lnTo>
                    <a:pt x="260718" y="13767"/>
                  </a:lnTo>
                  <a:lnTo>
                    <a:pt x="300072" y="25939"/>
                  </a:lnTo>
                  <a:lnTo>
                    <a:pt x="335668" y="45208"/>
                  </a:lnTo>
                  <a:lnTo>
                    <a:pt x="366674" y="70738"/>
                  </a:lnTo>
                  <a:lnTo>
                    <a:pt x="392238" y="101764"/>
                  </a:lnTo>
                  <a:lnTo>
                    <a:pt x="411530" y="137302"/>
                  </a:lnTo>
                  <a:lnTo>
                    <a:pt x="423717" y="176484"/>
                  </a:lnTo>
                  <a:lnTo>
                    <a:pt x="427964" y="218440"/>
                  </a:lnTo>
                  <a:lnTo>
                    <a:pt x="423717" y="260707"/>
                  </a:lnTo>
                  <a:lnTo>
                    <a:pt x="411530" y="300069"/>
                  </a:lnTo>
                  <a:lnTo>
                    <a:pt x="392238" y="335668"/>
                  </a:lnTo>
                  <a:lnTo>
                    <a:pt x="366674" y="366649"/>
                  </a:lnTo>
                  <a:lnTo>
                    <a:pt x="335668" y="392253"/>
                  </a:lnTo>
                  <a:lnTo>
                    <a:pt x="300072" y="411559"/>
                  </a:lnTo>
                  <a:lnTo>
                    <a:pt x="260718" y="423745"/>
                  </a:lnTo>
                  <a:lnTo>
                    <a:pt x="218440" y="427990"/>
                  </a:lnTo>
                  <a:lnTo>
                    <a:pt x="278711" y="427990"/>
                  </a:lnTo>
                  <a:lnTo>
                    <a:pt x="314627" y="415130"/>
                  </a:lnTo>
                  <a:lnTo>
                    <a:pt x="355179" y="389282"/>
                  </a:lnTo>
                  <a:lnTo>
                    <a:pt x="388974" y="355373"/>
                  </a:lnTo>
                  <a:lnTo>
                    <a:pt x="414717" y="314720"/>
                  </a:lnTo>
                  <a:lnTo>
                    <a:pt x="431113" y="268637"/>
                  </a:lnTo>
                  <a:lnTo>
                    <a:pt x="436867" y="218440"/>
                  </a:lnTo>
                  <a:lnTo>
                    <a:pt x="431113" y="168430"/>
                  </a:lnTo>
                  <a:lnTo>
                    <a:pt x="414717" y="122482"/>
                  </a:lnTo>
                  <a:lnTo>
                    <a:pt x="388974" y="81919"/>
                  </a:lnTo>
                  <a:lnTo>
                    <a:pt x="355179" y="48065"/>
                  </a:lnTo>
                  <a:lnTo>
                    <a:pt x="314627" y="22245"/>
                  </a:lnTo>
                  <a:lnTo>
                    <a:pt x="279077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7555964" name="object 8"/>
            <p:cNvSpPr/>
            <p:nvPr/>
          </p:nvSpPr>
          <p:spPr bwMode="auto">
            <a:xfrm>
              <a:off x="655419" y="1115694"/>
              <a:ext cx="270508" cy="270508"/>
            </a:xfrm>
            <a:custGeom>
              <a:avLst/>
              <a:gdLst/>
              <a:ahLst/>
              <a:cxnLst/>
              <a:rect l="l" t="t" r="r" b="b"/>
              <a:pathLst>
                <a:path w="270509" h="270509" fill="norm" stroke="1" extrusionOk="0">
                  <a:moveTo>
                    <a:pt x="134874" y="0"/>
                  </a:moveTo>
                  <a:lnTo>
                    <a:pt x="92171" y="6918"/>
                  </a:lnTo>
                  <a:lnTo>
                    <a:pt x="55138" y="26151"/>
                  </a:lnTo>
                  <a:lnTo>
                    <a:pt x="25968" y="55412"/>
                  </a:lnTo>
                  <a:lnTo>
                    <a:pt x="6857" y="92415"/>
                  </a:lnTo>
                  <a:lnTo>
                    <a:pt x="0" y="134874"/>
                  </a:lnTo>
                  <a:lnTo>
                    <a:pt x="6857" y="177629"/>
                  </a:lnTo>
                  <a:lnTo>
                    <a:pt x="25968" y="214788"/>
                  </a:lnTo>
                  <a:lnTo>
                    <a:pt x="55138" y="244108"/>
                  </a:lnTo>
                  <a:lnTo>
                    <a:pt x="92171" y="263345"/>
                  </a:lnTo>
                  <a:lnTo>
                    <a:pt x="134874" y="270255"/>
                  </a:lnTo>
                  <a:lnTo>
                    <a:pt x="177631" y="263345"/>
                  </a:lnTo>
                  <a:lnTo>
                    <a:pt x="214797" y="244108"/>
                  </a:lnTo>
                  <a:lnTo>
                    <a:pt x="244124" y="214788"/>
                  </a:lnTo>
                  <a:lnTo>
                    <a:pt x="263367" y="177629"/>
                  </a:lnTo>
                  <a:lnTo>
                    <a:pt x="270281" y="134874"/>
                  </a:lnTo>
                  <a:lnTo>
                    <a:pt x="263367" y="92415"/>
                  </a:lnTo>
                  <a:lnTo>
                    <a:pt x="244124" y="55412"/>
                  </a:lnTo>
                  <a:lnTo>
                    <a:pt x="214797" y="26151"/>
                  </a:lnTo>
                  <a:lnTo>
                    <a:pt x="177631" y="6918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371183273" name="object 9"/>
            <p:cNvSpPr/>
            <p:nvPr/>
          </p:nvSpPr>
          <p:spPr bwMode="auto">
            <a:xfrm>
              <a:off x="650430" y="1111248"/>
              <a:ext cx="280035" cy="279398"/>
            </a:xfrm>
            <a:custGeom>
              <a:avLst/>
              <a:gdLst/>
              <a:ahLst/>
              <a:cxnLst/>
              <a:rect l="l" t="t" r="r" b="b"/>
              <a:pathLst>
                <a:path w="280034" h="279400" fill="norm" stroke="1" extrusionOk="0">
                  <a:moveTo>
                    <a:pt x="139865" y="0"/>
                  </a:moveTo>
                  <a:lnTo>
                    <a:pt x="95790" y="7113"/>
                  </a:lnTo>
                  <a:lnTo>
                    <a:pt x="57412" y="26911"/>
                  </a:lnTo>
                  <a:lnTo>
                    <a:pt x="27085" y="57085"/>
                  </a:lnTo>
                  <a:lnTo>
                    <a:pt x="7163" y="95325"/>
                  </a:lnTo>
                  <a:lnTo>
                    <a:pt x="0" y="139319"/>
                  </a:lnTo>
                  <a:lnTo>
                    <a:pt x="7163" y="183609"/>
                  </a:lnTo>
                  <a:lnTo>
                    <a:pt x="27085" y="222005"/>
                  </a:lnTo>
                  <a:lnTo>
                    <a:pt x="57412" y="252238"/>
                  </a:lnTo>
                  <a:lnTo>
                    <a:pt x="95790" y="272041"/>
                  </a:lnTo>
                  <a:lnTo>
                    <a:pt x="139865" y="279146"/>
                  </a:lnTo>
                  <a:lnTo>
                    <a:pt x="184153" y="272041"/>
                  </a:lnTo>
                  <a:lnTo>
                    <a:pt x="188600" y="269748"/>
                  </a:lnTo>
                  <a:lnTo>
                    <a:pt x="139865" y="269748"/>
                  </a:lnTo>
                  <a:lnTo>
                    <a:pt x="113509" y="267118"/>
                  </a:lnTo>
                  <a:lnTo>
                    <a:pt x="67064" y="247620"/>
                  </a:lnTo>
                  <a:lnTo>
                    <a:pt x="31794" y="212560"/>
                  </a:lnTo>
                  <a:lnTo>
                    <a:pt x="12109" y="165748"/>
                  </a:lnTo>
                  <a:lnTo>
                    <a:pt x="9474" y="139319"/>
                  </a:lnTo>
                  <a:lnTo>
                    <a:pt x="12109" y="113182"/>
                  </a:lnTo>
                  <a:lnTo>
                    <a:pt x="31794" y="66577"/>
                  </a:lnTo>
                  <a:lnTo>
                    <a:pt x="67064" y="31232"/>
                  </a:lnTo>
                  <a:lnTo>
                    <a:pt x="113509" y="11527"/>
                  </a:lnTo>
                  <a:lnTo>
                    <a:pt x="139865" y="8889"/>
                  </a:lnTo>
                  <a:lnTo>
                    <a:pt x="187599" y="8889"/>
                  </a:lnTo>
                  <a:lnTo>
                    <a:pt x="184153" y="7113"/>
                  </a:lnTo>
                  <a:lnTo>
                    <a:pt x="139865" y="0"/>
                  </a:lnTo>
                  <a:close/>
                </a:path>
                <a:path w="280034" h="279400" fill="norm" stroke="1" extrusionOk="0">
                  <a:moveTo>
                    <a:pt x="187599" y="8889"/>
                  </a:moveTo>
                  <a:lnTo>
                    <a:pt x="139865" y="8889"/>
                  </a:lnTo>
                  <a:lnTo>
                    <a:pt x="166222" y="11527"/>
                  </a:lnTo>
                  <a:lnTo>
                    <a:pt x="190704" y="19129"/>
                  </a:lnTo>
                  <a:lnTo>
                    <a:pt x="232371" y="47371"/>
                  </a:lnTo>
                  <a:lnTo>
                    <a:pt x="260092" y="88725"/>
                  </a:lnTo>
                  <a:lnTo>
                    <a:pt x="270268" y="139319"/>
                  </a:lnTo>
                  <a:lnTo>
                    <a:pt x="267637" y="165748"/>
                  </a:lnTo>
                  <a:lnTo>
                    <a:pt x="248162" y="212560"/>
                  </a:lnTo>
                  <a:lnTo>
                    <a:pt x="212893" y="247620"/>
                  </a:lnTo>
                  <a:lnTo>
                    <a:pt x="166222" y="267118"/>
                  </a:lnTo>
                  <a:lnTo>
                    <a:pt x="139865" y="269748"/>
                  </a:lnTo>
                  <a:lnTo>
                    <a:pt x="188600" y="269748"/>
                  </a:lnTo>
                  <a:lnTo>
                    <a:pt x="222554" y="252238"/>
                  </a:lnTo>
                  <a:lnTo>
                    <a:pt x="252797" y="222005"/>
                  </a:lnTo>
                  <a:lnTo>
                    <a:pt x="272608" y="183609"/>
                  </a:lnTo>
                  <a:lnTo>
                    <a:pt x="279717" y="139319"/>
                  </a:lnTo>
                  <a:lnTo>
                    <a:pt x="272608" y="95325"/>
                  </a:lnTo>
                  <a:lnTo>
                    <a:pt x="252797" y="57085"/>
                  </a:lnTo>
                  <a:lnTo>
                    <a:pt x="222554" y="26911"/>
                  </a:lnTo>
                  <a:lnTo>
                    <a:pt x="187599" y="8889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88701133" name="object 10"/>
            <p:cNvSpPr/>
            <p:nvPr/>
          </p:nvSpPr>
          <p:spPr bwMode="auto">
            <a:xfrm>
              <a:off x="1504820" y="393062"/>
              <a:ext cx="282573" cy="282573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6"/>
                  </a:lnTo>
                  <a:lnTo>
                    <a:pt x="57799" y="27171"/>
                  </a:lnTo>
                  <a:lnTo>
                    <a:pt x="27204" y="57689"/>
                  </a:lnTo>
                  <a:lnTo>
                    <a:pt x="7180" y="96430"/>
                  </a:lnTo>
                  <a:lnTo>
                    <a:pt x="0" y="141097"/>
                  </a:lnTo>
                  <a:lnTo>
                    <a:pt x="7180" y="185949"/>
                  </a:lnTo>
                  <a:lnTo>
                    <a:pt x="27204" y="224803"/>
                  </a:lnTo>
                  <a:lnTo>
                    <a:pt x="57799" y="255378"/>
                  </a:lnTo>
                  <a:lnTo>
                    <a:pt x="96690" y="275395"/>
                  </a:lnTo>
                  <a:lnTo>
                    <a:pt x="141604" y="282575"/>
                  </a:lnTo>
                  <a:lnTo>
                    <a:pt x="186209" y="275395"/>
                  </a:lnTo>
                  <a:lnTo>
                    <a:pt x="224912" y="255378"/>
                  </a:lnTo>
                  <a:lnTo>
                    <a:pt x="255411" y="224803"/>
                  </a:lnTo>
                  <a:lnTo>
                    <a:pt x="275400" y="185949"/>
                  </a:lnTo>
                  <a:lnTo>
                    <a:pt x="282575" y="141097"/>
                  </a:lnTo>
                  <a:lnTo>
                    <a:pt x="275400" y="96430"/>
                  </a:lnTo>
                  <a:lnTo>
                    <a:pt x="255411" y="57689"/>
                  </a:lnTo>
                  <a:lnTo>
                    <a:pt x="224912" y="27171"/>
                  </a:lnTo>
                  <a:lnTo>
                    <a:pt x="186209" y="7176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62976725" name="object 11"/>
            <p:cNvSpPr/>
            <p:nvPr/>
          </p:nvSpPr>
          <p:spPr bwMode="auto">
            <a:xfrm>
              <a:off x="1500375" y="388110"/>
              <a:ext cx="292098" cy="292734"/>
            </a:xfrm>
            <a:custGeom>
              <a:avLst/>
              <a:gdLst/>
              <a:ahLst/>
              <a:cxnLst/>
              <a:rect l="l" t="t" r="r" b="b"/>
              <a:pathLst>
                <a:path w="292100" h="292734" fill="norm" stroke="1" extrusionOk="0">
                  <a:moveTo>
                    <a:pt x="146049" y="0"/>
                  </a:moveTo>
                  <a:lnTo>
                    <a:pt x="99844" y="7483"/>
                  </a:lnTo>
                  <a:lnTo>
                    <a:pt x="59746" y="28293"/>
                  </a:lnTo>
                  <a:lnTo>
                    <a:pt x="28147" y="59966"/>
                  </a:lnTo>
                  <a:lnTo>
                    <a:pt x="7435" y="100039"/>
                  </a:lnTo>
                  <a:lnTo>
                    <a:pt x="0" y="146050"/>
                  </a:lnTo>
                  <a:lnTo>
                    <a:pt x="7435" y="192308"/>
                  </a:lnTo>
                  <a:lnTo>
                    <a:pt x="28147" y="232531"/>
                  </a:lnTo>
                  <a:lnTo>
                    <a:pt x="59746" y="264281"/>
                  </a:lnTo>
                  <a:lnTo>
                    <a:pt x="99844" y="285120"/>
                  </a:lnTo>
                  <a:lnTo>
                    <a:pt x="146049" y="292608"/>
                  </a:lnTo>
                  <a:lnTo>
                    <a:pt x="192047" y="285120"/>
                  </a:lnTo>
                  <a:lnTo>
                    <a:pt x="195961" y="283083"/>
                  </a:lnTo>
                  <a:lnTo>
                    <a:pt x="146049" y="283083"/>
                  </a:lnTo>
                  <a:lnTo>
                    <a:pt x="118459" y="280259"/>
                  </a:lnTo>
                  <a:lnTo>
                    <a:pt x="69469" y="259562"/>
                  </a:lnTo>
                  <a:lnTo>
                    <a:pt x="32410" y="222791"/>
                  </a:lnTo>
                  <a:lnTo>
                    <a:pt x="11713" y="173710"/>
                  </a:lnTo>
                  <a:lnTo>
                    <a:pt x="8890" y="146050"/>
                  </a:lnTo>
                  <a:lnTo>
                    <a:pt x="11713" y="118681"/>
                  </a:lnTo>
                  <a:lnTo>
                    <a:pt x="32410" y="69754"/>
                  </a:lnTo>
                  <a:lnTo>
                    <a:pt x="69468" y="32724"/>
                  </a:lnTo>
                  <a:lnTo>
                    <a:pt x="118459" y="12257"/>
                  </a:lnTo>
                  <a:lnTo>
                    <a:pt x="146049" y="9525"/>
                  </a:lnTo>
                  <a:lnTo>
                    <a:pt x="195974" y="9525"/>
                  </a:lnTo>
                  <a:lnTo>
                    <a:pt x="192047" y="7483"/>
                  </a:lnTo>
                  <a:lnTo>
                    <a:pt x="146049" y="0"/>
                  </a:lnTo>
                  <a:close/>
                </a:path>
                <a:path w="292100" h="292734" fill="norm" stroke="1" extrusionOk="0">
                  <a:moveTo>
                    <a:pt x="195974" y="9525"/>
                  </a:moveTo>
                  <a:lnTo>
                    <a:pt x="146049" y="9525"/>
                  </a:lnTo>
                  <a:lnTo>
                    <a:pt x="173416" y="12257"/>
                  </a:lnTo>
                  <a:lnTo>
                    <a:pt x="199056" y="20145"/>
                  </a:lnTo>
                  <a:lnTo>
                    <a:pt x="242442" y="49529"/>
                  </a:lnTo>
                  <a:lnTo>
                    <a:pt x="271891" y="93027"/>
                  </a:lnTo>
                  <a:lnTo>
                    <a:pt x="282574" y="146050"/>
                  </a:lnTo>
                  <a:lnTo>
                    <a:pt x="279822" y="173710"/>
                  </a:lnTo>
                  <a:lnTo>
                    <a:pt x="259268" y="222791"/>
                  </a:lnTo>
                  <a:lnTo>
                    <a:pt x="222291" y="259562"/>
                  </a:lnTo>
                  <a:lnTo>
                    <a:pt x="173416" y="280259"/>
                  </a:lnTo>
                  <a:lnTo>
                    <a:pt x="146049" y="283083"/>
                  </a:lnTo>
                  <a:lnTo>
                    <a:pt x="195961" y="283083"/>
                  </a:lnTo>
                  <a:lnTo>
                    <a:pt x="232088" y="264281"/>
                  </a:lnTo>
                  <a:lnTo>
                    <a:pt x="263724" y="232531"/>
                  </a:lnTo>
                  <a:lnTo>
                    <a:pt x="284502" y="192308"/>
                  </a:lnTo>
                  <a:lnTo>
                    <a:pt x="291972" y="146050"/>
                  </a:lnTo>
                  <a:lnTo>
                    <a:pt x="284502" y="100039"/>
                  </a:lnTo>
                  <a:lnTo>
                    <a:pt x="263724" y="59966"/>
                  </a:lnTo>
                  <a:lnTo>
                    <a:pt x="232088" y="28293"/>
                  </a:lnTo>
                  <a:lnTo>
                    <a:pt x="195974" y="952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555033498" name="object 12"/>
            <p:cNvPicPr/>
            <p:nvPr/>
          </p:nvPicPr>
          <p:blipFill rotWithShape="1">
            <a:blip r:embed="rId3"/>
            <a:stretch/>
          </p:blipFill>
          <p:spPr bwMode="auto">
            <a:xfrm>
              <a:off x="1562225" y="450468"/>
              <a:ext cx="167764" cy="167764"/>
            </a:xfrm>
            <a:prstGeom prst="rect">
              <a:avLst/>
            </a:prstGeom>
          </p:spPr>
        </p:pic>
        <p:sp>
          <p:nvSpPr>
            <p:cNvPr id="1823097764" name="object 13"/>
            <p:cNvSpPr/>
            <p:nvPr/>
          </p:nvSpPr>
          <p:spPr bwMode="auto">
            <a:xfrm>
              <a:off x="3164076" y="495171"/>
              <a:ext cx="293368" cy="293368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293116" y="146431"/>
                  </a:moveTo>
                  <a:lnTo>
                    <a:pt x="285623" y="100190"/>
                  </a:lnTo>
                  <a:lnTo>
                    <a:pt x="264782" y="59994"/>
                  </a:lnTo>
                  <a:lnTo>
                    <a:pt x="233032" y="28282"/>
                  </a:lnTo>
                  <a:lnTo>
                    <a:pt x="192976" y="7569"/>
                  </a:lnTo>
                  <a:lnTo>
                    <a:pt x="193357" y="7569"/>
                  </a:lnTo>
                  <a:lnTo>
                    <a:pt x="175628" y="4699"/>
                  </a:lnTo>
                  <a:lnTo>
                    <a:pt x="146558" y="0"/>
                  </a:lnTo>
                  <a:lnTo>
                    <a:pt x="99695" y="7569"/>
                  </a:lnTo>
                  <a:lnTo>
                    <a:pt x="100076" y="7569"/>
                  </a:lnTo>
                  <a:lnTo>
                    <a:pt x="60020" y="28282"/>
                  </a:lnTo>
                  <a:lnTo>
                    <a:pt x="28282" y="59994"/>
                  </a:lnTo>
                  <a:lnTo>
                    <a:pt x="7467" y="100190"/>
                  </a:lnTo>
                  <a:lnTo>
                    <a:pt x="0" y="146431"/>
                  </a:lnTo>
                  <a:lnTo>
                    <a:pt x="7467" y="192887"/>
                  </a:lnTo>
                  <a:lnTo>
                    <a:pt x="28282" y="233222"/>
                  </a:lnTo>
                  <a:lnTo>
                    <a:pt x="60020" y="265023"/>
                  </a:lnTo>
                  <a:lnTo>
                    <a:pt x="100241" y="285889"/>
                  </a:lnTo>
                  <a:lnTo>
                    <a:pt x="146558" y="293370"/>
                  </a:lnTo>
                  <a:lnTo>
                    <a:pt x="176352" y="288544"/>
                  </a:lnTo>
                  <a:lnTo>
                    <a:pt x="192811" y="285889"/>
                  </a:lnTo>
                  <a:lnTo>
                    <a:pt x="233032" y="265023"/>
                  </a:lnTo>
                  <a:lnTo>
                    <a:pt x="264782" y="233222"/>
                  </a:lnTo>
                  <a:lnTo>
                    <a:pt x="285623" y="192887"/>
                  </a:lnTo>
                  <a:lnTo>
                    <a:pt x="293116" y="146431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871797084" name="object 14"/>
            <p:cNvPicPr/>
            <p:nvPr/>
          </p:nvPicPr>
          <p:blipFill rotWithShape="1">
            <a:blip r:embed="rId4"/>
            <a:stretch/>
          </p:blipFill>
          <p:spPr bwMode="auto">
            <a:xfrm>
              <a:off x="3200526" y="531621"/>
              <a:ext cx="220088" cy="220342"/>
            </a:xfrm>
            <a:prstGeom prst="rect">
              <a:avLst/>
            </a:prstGeom>
          </p:spPr>
        </p:pic>
      </p:grpSp>
      <p:pic>
        <p:nvPicPr>
          <p:cNvPr id="1948885321" name="object 15"/>
          <p:cNvPicPr/>
          <p:nvPr/>
        </p:nvPicPr>
        <p:blipFill rotWithShape="1">
          <a:blip r:embed="rId5"/>
          <a:stretch/>
        </p:blipFill>
        <p:spPr bwMode="auto">
          <a:xfrm>
            <a:off x="8303892" y="4836195"/>
            <a:ext cx="712315" cy="265477"/>
          </a:xfrm>
          <a:prstGeom prst="rect">
            <a:avLst/>
          </a:prstGeom>
        </p:spPr>
      </p:pic>
      <p:grpSp>
        <p:nvGrpSpPr>
          <p:cNvPr id="1862266211" name="object 16"/>
          <p:cNvGrpSpPr/>
          <p:nvPr/>
        </p:nvGrpSpPr>
        <p:grpSpPr bwMode="auto">
          <a:xfrm>
            <a:off x="0" y="4733568"/>
            <a:ext cx="9144000" cy="410206"/>
            <a:chOff x="0" y="4733568"/>
            <a:chExt cx="9144000" cy="410206"/>
          </a:xfrm>
        </p:grpSpPr>
        <p:sp>
          <p:nvSpPr>
            <p:cNvPr id="2024016282" name="object 17"/>
            <p:cNvSpPr/>
            <p:nvPr/>
          </p:nvSpPr>
          <p:spPr bwMode="auto">
            <a:xfrm>
              <a:off x="0" y="4738329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 fill="norm" stroke="1" extrusionOk="0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grpFill/>
            <a:ln w="9525">
              <a:solidFill>
                <a:srgbClr val="01ABA9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39883425" name="object 18"/>
            <p:cNvSpPr/>
            <p:nvPr/>
          </p:nvSpPr>
          <p:spPr bwMode="auto">
            <a:xfrm>
              <a:off x="8157906" y="4738329"/>
              <a:ext cx="9523" cy="405765"/>
            </a:xfrm>
            <a:custGeom>
              <a:avLst/>
              <a:gdLst/>
              <a:ahLst/>
              <a:cxnLst/>
              <a:rect l="l" t="t" r="r" b="b"/>
              <a:pathLst>
                <a:path w="9525" h="405764" fill="norm" stroke="1" extrusionOk="0">
                  <a:moveTo>
                    <a:pt x="9525" y="0"/>
                  </a:moveTo>
                  <a:lnTo>
                    <a:pt x="0" y="0"/>
                  </a:lnTo>
                  <a:lnTo>
                    <a:pt x="0" y="405168"/>
                  </a:lnTo>
                  <a:lnTo>
                    <a:pt x="9525" y="405168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36839659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467278" y="245802"/>
            <a:ext cx="6548931" cy="905485"/>
          </a:xfrm>
          <a:prstGeom prst="rect">
            <a:avLst/>
          </a:prstGeom>
        </p:spPr>
        <p:txBody>
          <a:bodyPr vert="horz" wrap="square" lIns="0" tIns="173605" rIns="0" bIns="0" rtlCol="0">
            <a:spAutoFit/>
          </a:bodyPr>
          <a:lstStyle/>
          <a:p>
            <a:pPr marL="1402713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7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Modulo O3: Attribuzione Causale del QBER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62283986" name="object 24"/>
          <p:cNvSpPr txBox="1"/>
          <p:nvPr/>
        </p:nvSpPr>
        <p:spPr bwMode="auto">
          <a:xfrm>
            <a:off x="224155" y="4836195"/>
            <a:ext cx="7085530" cy="166093"/>
          </a:xfrm>
          <a:prstGeom prst="rect">
            <a:avLst/>
          </a:prstGeom>
        </p:spPr>
        <p:txBody>
          <a:bodyPr vert="horz" wrap="square" lIns="0" tIns="13333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  <p:sp>
        <p:nvSpPr>
          <p:cNvPr id="1533020757" name="Rettangolo 30"/>
          <p:cNvSpPr txBox="1"/>
          <p:nvPr/>
        </p:nvSpPr>
        <p:spPr bwMode="auto">
          <a:xfrm rot="0" flipH="0" flipV="0">
            <a:off x="283548" y="2290442"/>
            <a:ext cx="3666603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Per l’attribuzione causale è stato usato un modello </a:t>
            </a: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Random Forest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classico:</a:t>
            </a:r>
            <a:endParaRPr lang="it-IT" sz="1600">
              <a:latin typeface="Libre Baskerville"/>
              <a:ea typeface="Libre Baskerville"/>
              <a:cs typeface="Libre Baskerville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Prende le 5 osservabili fisiche e restituisce un vettore con le 3 quote percentuali delle cause</a:t>
            </a:r>
            <a:endParaRPr lang="it-IT" sz="1600">
              <a:latin typeface="Libre Baskerville"/>
              <a:ea typeface="Libre Baskerville"/>
              <a:cs typeface="Libre Baskerville"/>
            </a:endParaRPr>
          </a:p>
        </p:txBody>
      </p:sp>
      <p:sp>
        <p:nvSpPr>
          <p:cNvPr id="686819883" name="Rettangolo 21"/>
          <p:cNvSpPr txBox="1"/>
          <p:nvPr/>
        </p:nvSpPr>
        <p:spPr bwMode="auto">
          <a:xfrm rot="0" flipH="0" flipV="0">
            <a:off x="5551363" y="2290442"/>
            <a:ext cx="3172596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1600">
                <a:latin typeface="Libre Baskerville"/>
                <a:ea typeface="Libre Baskerville"/>
                <a:cs typeface="Libre Baskerville"/>
              </a:rPr>
              <a:t>È stato raggiunto uno skill di </a:t>
            </a: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0,564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sulle celle viste e </a:t>
            </a: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0,403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 su simulazioni mai viste</a:t>
            </a:r>
            <a:endParaRPr lang="it-IT" sz="1600">
              <a:latin typeface="Libre Baskerville"/>
              <a:ea typeface="Libre Baskerville"/>
              <a:cs typeface="Libre Baskerville"/>
            </a:endParaRPr>
          </a:p>
        </p:txBody>
      </p:sp>
      <p:pic>
        <p:nvPicPr>
          <p:cNvPr id="2105677705" name="Immagine 22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317422" y="2435312"/>
            <a:ext cx="777420" cy="777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608050" name="Rettangolo 3"/>
          <p:cNvSpPr txBox="1"/>
          <p:nvPr/>
        </p:nvSpPr>
        <p:spPr bwMode="auto">
          <a:xfrm rot="0" flipH="0" flipV="0">
            <a:off x="293207" y="1273115"/>
            <a:ext cx="8557053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Portabilità dell’architettura (O1)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L’architettura è portabile, ma ogni dominio richiede calibrazioni specifiche;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</p:txBody>
      </p:sp>
      <p:sp>
        <p:nvSpPr>
          <p:cNvPr id="1086568516" name="Rettangolo 4"/>
          <p:cNvSpPr txBox="1"/>
          <p:nvPr/>
        </p:nvSpPr>
        <p:spPr bwMode="auto">
          <a:xfrm rot="0" flipH="0" flipV="0">
            <a:off x="254146" y="2362887"/>
            <a:ext cx="8651192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Vantaggio quantistico (RQ2)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In entrambi i domini, la QGAN è eguagliata o superata da baseline classiche (Gaussiana calibrata per IDS, interpolazione per QKD);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</p:txBody>
      </p:sp>
      <p:sp>
        <p:nvSpPr>
          <p:cNvPr id="1626493310" name="Rettangolo 5"/>
          <p:cNvSpPr txBox="1"/>
          <p:nvPr/>
        </p:nvSpPr>
        <p:spPr bwMode="auto">
          <a:xfrm rot="0" flipH="0" flipV="0">
            <a:off x="255226" y="3487035"/>
            <a:ext cx="8762782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lang="it-IT" sz="1600" b="1">
                <a:solidFill>
                  <a:srgbClr val="01ABA9"/>
                </a:solidFill>
                <a:latin typeface="Libre Baskerville"/>
                <a:ea typeface="Libre Baskerville"/>
                <a:cs typeface="Libre Baskerville"/>
              </a:rPr>
              <a:t>Valutazione scientifica</a:t>
            </a:r>
            <a:r>
              <a:rPr lang="it-IT" sz="1600">
                <a:latin typeface="Libre Baskerville"/>
                <a:ea typeface="Libre Baskerville"/>
                <a:cs typeface="Libre Baskerville"/>
              </a:rPr>
              <a:t>:</a:t>
            </a:r>
            <a:endParaRPr sz="1600">
              <a:latin typeface="Libre Baskerville"/>
              <a:cs typeface="Libre Baskerville"/>
            </a:endParaRPr>
          </a:p>
          <a:p>
            <a:pPr marL="683928" lvl="1" indent="-283878">
              <a:buFont typeface="Arial"/>
              <a:buChar char="•"/>
              <a:defRPr/>
            </a:pPr>
            <a:r>
              <a:rPr lang="it-IT" sz="1600" b="0" i="0" u="none" strike="noStrike" cap="none" spc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</a:rPr>
              <a:t>Dimostrare che baseline classiche battono modelli quantistici complessi evita falsi trionfi</a:t>
            </a:r>
            <a:endParaRPr sz="1600" b="0" i="0" u="none" strike="noStrike" cap="none" spc="0">
              <a:solidFill>
                <a:srgbClr val="000000"/>
              </a:solidFill>
              <a:latin typeface="Libre Baskerville"/>
              <a:cs typeface="Libre Baskerville"/>
            </a:endParaRPr>
          </a:p>
        </p:txBody>
      </p:sp>
      <p:sp>
        <p:nvSpPr>
          <p:cNvPr id="242684043" name="object 2" descr="$PPTXTitle"/>
          <p:cNvSpPr txBox="1">
            <a:spLocks noGrp="1"/>
          </p:cNvSpPr>
          <p:nvPr>
            <p:ph type="title"/>
          </p:nvPr>
        </p:nvSpPr>
        <p:spPr bwMode="auto">
          <a:xfrm flipH="0" flipV="0">
            <a:off x="2312919" y="273105"/>
            <a:ext cx="3519880" cy="539726"/>
          </a:xfrm>
          <a:prstGeom prst="rect">
            <a:avLst/>
          </a:prstGeom>
        </p:spPr>
        <p:txBody>
          <a:bodyPr vert="horz" wrap="square" lIns="0" tIns="173606" rIns="0" bIns="0" rtlCol="0">
            <a:spAutoFit/>
          </a:bodyPr>
          <a:lstStyle/>
          <a:p>
            <a:pPr marL="1402714" algn="l">
              <a:lnSpc>
                <a:spcPct val="100000"/>
              </a:lnSpc>
              <a:spcBef>
                <a:spcPts val="95"/>
              </a:spcBef>
              <a:defRPr/>
            </a:pPr>
            <a:r>
              <a:rPr lang="it-IT" sz="2400" b="1" i="0" u="none" strike="noStrike" cap="none" spc="-228">
                <a:solidFill>
                  <a:srgbClr val="484848"/>
                </a:solidFill>
                <a:latin typeface="Libre Baskerville"/>
                <a:ea typeface="Libre Baskerville"/>
                <a:cs typeface="Libre Baskerville"/>
              </a:rPr>
              <a:t>Conclusioni</a:t>
            </a:r>
            <a:endParaRPr sz="2400" b="1">
              <a:latin typeface="Libre Baskerville"/>
              <a:cs typeface="Libre Baskerville"/>
            </a:endParaRPr>
          </a:p>
        </p:txBody>
      </p:sp>
      <p:sp>
        <p:nvSpPr>
          <p:cNvPr id="1143366964" name="object 24"/>
          <p:cNvSpPr txBox="1"/>
          <p:nvPr/>
        </p:nvSpPr>
        <p:spPr bwMode="auto">
          <a:xfrm>
            <a:off x="224156" y="4836195"/>
            <a:ext cx="7085531" cy="166094"/>
          </a:xfrm>
          <a:prstGeom prst="rect">
            <a:avLst/>
          </a:prstGeom>
        </p:spPr>
        <p:txBody>
          <a:bodyPr vert="horz" wrap="square" lIns="0" tIns="13334" rIns="0" bIns="0" rtlCol="0">
            <a:spAutoFit/>
          </a:bodyPr>
          <a:lstStyle/>
          <a:p>
            <a:pPr>
              <a:defRPr/>
            </a:pPr>
            <a:r>
              <a:rPr lang="it-IT" sz="1000">
                <a:latin typeface="Libre Baskerville"/>
                <a:ea typeface="Libre Baskerville"/>
                <a:cs typeface="Libre Baskerville"/>
              </a:rPr>
              <a:t>Progetto Tecnologie Quantistiche per la Sicurezza</a:t>
            </a:r>
            <a:endParaRPr sz="10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7637249" name="object 11"/>
          <p:cNvPicPr/>
          <p:nvPr/>
        </p:nvPicPr>
        <p:blipFill rotWithShape="1">
          <a:blip r:embed="rId3"/>
          <a:stretch/>
        </p:blipFill>
        <p:spPr bwMode="auto">
          <a:xfrm>
            <a:off x="5825616" y="-4762"/>
            <a:ext cx="3323145" cy="1696402"/>
          </a:xfrm>
          <a:prstGeom prst="rect">
            <a:avLst/>
          </a:prstGeom>
        </p:spPr>
      </p:pic>
      <p:grpSp>
        <p:nvGrpSpPr>
          <p:cNvPr id="2057693886" name="object 2"/>
          <p:cNvGrpSpPr/>
          <p:nvPr/>
        </p:nvGrpSpPr>
        <p:grpSpPr bwMode="auto">
          <a:xfrm>
            <a:off x="-4762" y="4007806"/>
            <a:ext cx="4170045" cy="949960"/>
            <a:chOff x="-4762" y="4007806"/>
            <a:chExt cx="4170045" cy="949960"/>
          </a:xfrm>
        </p:grpSpPr>
        <p:sp>
          <p:nvSpPr>
            <p:cNvPr id="3" name="object 3"/>
            <p:cNvSpPr/>
            <p:nvPr/>
          </p:nvSpPr>
          <p:spPr bwMode="auto">
            <a:xfrm>
              <a:off x="0" y="4012569"/>
              <a:ext cx="4036060" cy="813435"/>
            </a:xfrm>
            <a:custGeom>
              <a:avLst/>
              <a:gdLst/>
              <a:ahLst/>
              <a:cxnLst/>
              <a:rect l="l" t="t" r="r" b="b"/>
              <a:pathLst>
                <a:path w="4036060" h="813435" fill="norm" stroke="1" extrusionOk="0">
                  <a:moveTo>
                    <a:pt x="2902839" y="507132"/>
                  </a:moveTo>
                  <a:lnTo>
                    <a:pt x="4035933" y="813431"/>
                  </a:lnTo>
                </a:path>
                <a:path w="4036060" h="813435" fill="norm" stroke="1" extrusionOk="0">
                  <a:moveTo>
                    <a:pt x="1560576" y="801683"/>
                  </a:moveTo>
                  <a:lnTo>
                    <a:pt x="2902839" y="486380"/>
                  </a:lnTo>
                </a:path>
                <a:path w="4036060" h="813435" fill="norm" stroke="1" extrusionOk="0">
                  <a:moveTo>
                    <a:pt x="258076" y="402052"/>
                  </a:moveTo>
                  <a:lnTo>
                    <a:pt x="1590040" y="794152"/>
                  </a:lnTo>
                </a:path>
                <a:path w="4036060" h="813435" fill="norm" stroke="1" extrusionOk="0">
                  <a:moveTo>
                    <a:pt x="0" y="0"/>
                  </a:moveTo>
                  <a:lnTo>
                    <a:pt x="265557" y="394712"/>
                  </a:lnTo>
                </a:path>
              </a:pathLst>
            </a:custGeom>
            <a:grpFill/>
            <a:ln w="9525">
              <a:solidFill>
                <a:srgbClr val="3C3C3C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" name="object 4"/>
            <p:cNvSpPr/>
            <p:nvPr/>
          </p:nvSpPr>
          <p:spPr bwMode="auto">
            <a:xfrm>
              <a:off x="2750566" y="4352112"/>
              <a:ext cx="282575" cy="282575"/>
            </a:xfrm>
            <a:custGeom>
              <a:avLst/>
              <a:gdLst/>
              <a:ahLst/>
              <a:cxnLst/>
              <a:rect l="l" t="t" r="r" b="b"/>
              <a:pathLst>
                <a:path w="282575" h="282575" fill="norm" stroke="1" extrusionOk="0">
                  <a:moveTo>
                    <a:pt x="141604" y="0"/>
                  </a:moveTo>
                  <a:lnTo>
                    <a:pt x="96690" y="7173"/>
                  </a:lnTo>
                  <a:lnTo>
                    <a:pt x="57799" y="27160"/>
                  </a:lnTo>
                  <a:lnTo>
                    <a:pt x="27204" y="57656"/>
                  </a:lnTo>
                  <a:lnTo>
                    <a:pt x="7180" y="96360"/>
                  </a:lnTo>
                  <a:lnTo>
                    <a:pt x="0" y="140970"/>
                  </a:lnTo>
                  <a:lnTo>
                    <a:pt x="7180" y="185864"/>
                  </a:lnTo>
                  <a:lnTo>
                    <a:pt x="27204" y="224741"/>
                  </a:lnTo>
                  <a:lnTo>
                    <a:pt x="57799" y="255326"/>
                  </a:lnTo>
                  <a:lnTo>
                    <a:pt x="96690" y="275345"/>
                  </a:lnTo>
                  <a:lnTo>
                    <a:pt x="141604" y="282524"/>
                  </a:lnTo>
                  <a:lnTo>
                    <a:pt x="186209" y="275345"/>
                  </a:lnTo>
                  <a:lnTo>
                    <a:pt x="224912" y="255326"/>
                  </a:lnTo>
                  <a:lnTo>
                    <a:pt x="255411" y="224741"/>
                  </a:lnTo>
                  <a:lnTo>
                    <a:pt x="275400" y="185864"/>
                  </a:lnTo>
                  <a:lnTo>
                    <a:pt x="282575" y="140970"/>
                  </a:lnTo>
                  <a:lnTo>
                    <a:pt x="275400" y="96360"/>
                  </a:lnTo>
                  <a:lnTo>
                    <a:pt x="255411" y="57656"/>
                  </a:lnTo>
                  <a:lnTo>
                    <a:pt x="224912" y="27160"/>
                  </a:lnTo>
                  <a:lnTo>
                    <a:pt x="186209" y="7173"/>
                  </a:lnTo>
                  <a:lnTo>
                    <a:pt x="1416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/>
            <p:cNvSpPr/>
            <p:nvPr/>
          </p:nvSpPr>
          <p:spPr bwMode="auto">
            <a:xfrm>
              <a:off x="2746120" y="4347083"/>
              <a:ext cx="292100" cy="292735"/>
            </a:xfrm>
            <a:custGeom>
              <a:avLst/>
              <a:gdLst/>
              <a:ahLst/>
              <a:cxnLst/>
              <a:rect l="l" t="t" r="r" b="b"/>
              <a:pathLst>
                <a:path w="292100" h="292735" fill="norm" stroke="1" extrusionOk="0">
                  <a:moveTo>
                    <a:pt x="146050" y="0"/>
                  </a:moveTo>
                  <a:lnTo>
                    <a:pt x="99795" y="7481"/>
                  </a:lnTo>
                  <a:lnTo>
                    <a:pt x="59692" y="28283"/>
                  </a:lnTo>
                  <a:lnTo>
                    <a:pt x="28110" y="59944"/>
                  </a:lnTo>
                  <a:lnTo>
                    <a:pt x="7422" y="100003"/>
                  </a:lnTo>
                  <a:lnTo>
                    <a:pt x="0" y="145999"/>
                  </a:lnTo>
                  <a:lnTo>
                    <a:pt x="7422" y="192274"/>
                  </a:lnTo>
                  <a:lnTo>
                    <a:pt x="28110" y="232506"/>
                  </a:lnTo>
                  <a:lnTo>
                    <a:pt x="59692" y="264258"/>
                  </a:lnTo>
                  <a:lnTo>
                    <a:pt x="99795" y="285095"/>
                  </a:lnTo>
                  <a:lnTo>
                    <a:pt x="146050" y="292582"/>
                  </a:lnTo>
                  <a:lnTo>
                    <a:pt x="192047" y="285095"/>
                  </a:lnTo>
                  <a:lnTo>
                    <a:pt x="195866" y="283108"/>
                  </a:lnTo>
                  <a:lnTo>
                    <a:pt x="146050" y="283108"/>
                  </a:lnTo>
                  <a:lnTo>
                    <a:pt x="118405" y="280282"/>
                  </a:lnTo>
                  <a:lnTo>
                    <a:pt x="69451" y="259582"/>
                  </a:lnTo>
                  <a:lnTo>
                    <a:pt x="32410" y="222808"/>
                  </a:lnTo>
                  <a:lnTo>
                    <a:pt x="11713" y="173696"/>
                  </a:lnTo>
                  <a:lnTo>
                    <a:pt x="8890" y="145999"/>
                  </a:lnTo>
                  <a:lnTo>
                    <a:pt x="11713" y="118639"/>
                  </a:lnTo>
                  <a:lnTo>
                    <a:pt x="32410" y="69764"/>
                  </a:lnTo>
                  <a:lnTo>
                    <a:pt x="69451" y="32753"/>
                  </a:lnTo>
                  <a:lnTo>
                    <a:pt x="118405" y="12217"/>
                  </a:lnTo>
                  <a:lnTo>
                    <a:pt x="146050" y="9474"/>
                  </a:lnTo>
                  <a:lnTo>
                    <a:pt x="195884" y="9474"/>
                  </a:lnTo>
                  <a:lnTo>
                    <a:pt x="192047" y="7481"/>
                  </a:lnTo>
                  <a:lnTo>
                    <a:pt x="146050" y="0"/>
                  </a:lnTo>
                  <a:close/>
                </a:path>
                <a:path w="292100" h="292735" fill="norm" stroke="1" extrusionOk="0">
                  <a:moveTo>
                    <a:pt x="195884" y="9474"/>
                  </a:moveTo>
                  <a:lnTo>
                    <a:pt x="146050" y="9474"/>
                  </a:lnTo>
                  <a:lnTo>
                    <a:pt x="173416" y="12217"/>
                  </a:lnTo>
                  <a:lnTo>
                    <a:pt x="199056" y="20134"/>
                  </a:lnTo>
                  <a:lnTo>
                    <a:pt x="242443" y="49606"/>
                  </a:lnTo>
                  <a:lnTo>
                    <a:pt x="271891" y="93002"/>
                  </a:lnTo>
                  <a:lnTo>
                    <a:pt x="282575" y="145999"/>
                  </a:lnTo>
                  <a:lnTo>
                    <a:pt x="279822" y="173696"/>
                  </a:lnTo>
                  <a:lnTo>
                    <a:pt x="259268" y="222808"/>
                  </a:lnTo>
                  <a:lnTo>
                    <a:pt x="222291" y="259582"/>
                  </a:lnTo>
                  <a:lnTo>
                    <a:pt x="173416" y="280282"/>
                  </a:lnTo>
                  <a:lnTo>
                    <a:pt x="146050" y="283108"/>
                  </a:lnTo>
                  <a:lnTo>
                    <a:pt x="195866" y="283108"/>
                  </a:lnTo>
                  <a:lnTo>
                    <a:pt x="232088" y="264258"/>
                  </a:lnTo>
                  <a:lnTo>
                    <a:pt x="263724" y="232506"/>
                  </a:lnTo>
                  <a:lnTo>
                    <a:pt x="284502" y="192274"/>
                  </a:lnTo>
                  <a:lnTo>
                    <a:pt x="291973" y="145999"/>
                  </a:lnTo>
                  <a:lnTo>
                    <a:pt x="284502" y="100003"/>
                  </a:lnTo>
                  <a:lnTo>
                    <a:pt x="263724" y="59944"/>
                  </a:lnTo>
                  <a:lnTo>
                    <a:pt x="232088" y="28283"/>
                  </a:lnTo>
                  <a:lnTo>
                    <a:pt x="195884" y="9474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6" name="object 6"/>
            <p:cNvPicPr/>
            <p:nvPr/>
          </p:nvPicPr>
          <p:blipFill rotWithShape="1">
            <a:blip r:embed="rId4"/>
            <a:stretch/>
          </p:blipFill>
          <p:spPr bwMode="auto">
            <a:xfrm>
              <a:off x="2807970" y="4409516"/>
              <a:ext cx="167767" cy="1677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 rotWithShape="1">
            <a:blip r:embed="rId5"/>
            <a:stretch/>
          </p:blipFill>
          <p:spPr bwMode="auto">
            <a:xfrm>
              <a:off x="169837" y="4321670"/>
              <a:ext cx="174993" cy="17498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 bwMode="auto">
            <a:xfrm>
              <a:off x="3874008" y="4666703"/>
              <a:ext cx="288924" cy="288924"/>
            </a:xfrm>
            <a:custGeom>
              <a:avLst/>
              <a:gdLst/>
              <a:ahLst/>
              <a:cxnLst/>
              <a:rect l="l" t="t" r="r" b="b"/>
              <a:pathLst>
                <a:path w="288925" h="288925" fill="norm" stroke="1" extrusionOk="0">
                  <a:moveTo>
                    <a:pt x="144271" y="0"/>
                  </a:moveTo>
                  <a:lnTo>
                    <a:pt x="98641" y="7351"/>
                  </a:lnTo>
                  <a:lnTo>
                    <a:pt x="59033" y="27816"/>
                  </a:lnTo>
                  <a:lnTo>
                    <a:pt x="27814" y="59008"/>
                  </a:lnTo>
                  <a:lnTo>
                    <a:pt x="7347" y="98542"/>
                  </a:lnTo>
                  <a:lnTo>
                    <a:pt x="0" y="144030"/>
                  </a:lnTo>
                  <a:lnTo>
                    <a:pt x="7347" y="189654"/>
                  </a:lnTo>
                  <a:lnTo>
                    <a:pt x="27814" y="229267"/>
                  </a:lnTo>
                  <a:lnTo>
                    <a:pt x="59033" y="260497"/>
                  </a:lnTo>
                  <a:lnTo>
                    <a:pt x="98641" y="280975"/>
                  </a:lnTo>
                  <a:lnTo>
                    <a:pt x="144271" y="288328"/>
                  </a:lnTo>
                  <a:lnTo>
                    <a:pt x="189902" y="280975"/>
                  </a:lnTo>
                  <a:lnTo>
                    <a:pt x="229510" y="260497"/>
                  </a:lnTo>
                  <a:lnTo>
                    <a:pt x="260729" y="229267"/>
                  </a:lnTo>
                  <a:lnTo>
                    <a:pt x="281196" y="189654"/>
                  </a:lnTo>
                  <a:lnTo>
                    <a:pt x="288543" y="144030"/>
                  </a:lnTo>
                  <a:lnTo>
                    <a:pt x="281196" y="98542"/>
                  </a:lnTo>
                  <a:lnTo>
                    <a:pt x="260729" y="59008"/>
                  </a:lnTo>
                  <a:lnTo>
                    <a:pt x="229510" y="27816"/>
                  </a:lnTo>
                  <a:lnTo>
                    <a:pt x="189902" y="7351"/>
                  </a:lnTo>
                  <a:lnTo>
                    <a:pt x="144271" y="0"/>
                  </a:lnTo>
                  <a:close/>
                </a:path>
              </a:pathLst>
            </a:custGeom>
            <a:solidFill>
              <a:srgbClr val="01ABA9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/>
            <p:cNvSpPr/>
            <p:nvPr/>
          </p:nvSpPr>
          <p:spPr bwMode="auto">
            <a:xfrm>
              <a:off x="3871721" y="4664189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 fill="norm" stroke="1" extrusionOk="0">
                  <a:moveTo>
                    <a:pt x="146557" y="0"/>
                  </a:moveTo>
                  <a:lnTo>
                    <a:pt x="100250" y="7479"/>
                  </a:lnTo>
                  <a:lnTo>
                    <a:pt x="60021" y="28299"/>
                  </a:lnTo>
                  <a:lnTo>
                    <a:pt x="28289" y="60034"/>
                  </a:lnTo>
                  <a:lnTo>
                    <a:pt x="7475" y="100258"/>
                  </a:lnTo>
                  <a:lnTo>
                    <a:pt x="0" y="146545"/>
                  </a:lnTo>
                  <a:lnTo>
                    <a:pt x="7475" y="192968"/>
                  </a:lnTo>
                  <a:lnTo>
                    <a:pt x="28289" y="233274"/>
                  </a:lnTo>
                  <a:lnTo>
                    <a:pt x="60021" y="265052"/>
                  </a:lnTo>
                  <a:lnTo>
                    <a:pt x="100250" y="285888"/>
                  </a:lnTo>
                  <a:lnTo>
                    <a:pt x="146557" y="293369"/>
                  </a:lnTo>
                  <a:lnTo>
                    <a:pt x="176114" y="288594"/>
                  </a:lnTo>
                  <a:lnTo>
                    <a:pt x="146557" y="288594"/>
                  </a:lnTo>
                  <a:lnTo>
                    <a:pt x="117881" y="285695"/>
                  </a:lnTo>
                  <a:lnTo>
                    <a:pt x="67244" y="264318"/>
                  </a:lnTo>
                  <a:lnTo>
                    <a:pt x="28936" y="225978"/>
                  </a:lnTo>
                  <a:lnTo>
                    <a:pt x="7671" y="175199"/>
                  </a:lnTo>
                  <a:lnTo>
                    <a:pt x="4825" y="146545"/>
                  </a:lnTo>
                  <a:lnTo>
                    <a:pt x="7671" y="118013"/>
                  </a:lnTo>
                  <a:lnTo>
                    <a:pt x="28936" y="67269"/>
                  </a:lnTo>
                  <a:lnTo>
                    <a:pt x="67244" y="28928"/>
                  </a:lnTo>
                  <a:lnTo>
                    <a:pt x="117881" y="7633"/>
                  </a:lnTo>
                  <a:lnTo>
                    <a:pt x="146557" y="4775"/>
                  </a:lnTo>
                  <a:lnTo>
                    <a:pt x="176123" y="4775"/>
                  </a:lnTo>
                  <a:lnTo>
                    <a:pt x="146557" y="0"/>
                  </a:lnTo>
                  <a:close/>
                </a:path>
                <a:path w="293370" h="293370" fill="norm" stroke="1" extrusionOk="0">
                  <a:moveTo>
                    <a:pt x="176123" y="4775"/>
                  </a:moveTo>
                  <a:lnTo>
                    <a:pt x="146557" y="4775"/>
                  </a:lnTo>
                  <a:lnTo>
                    <a:pt x="175184" y="7633"/>
                  </a:lnTo>
                  <a:lnTo>
                    <a:pt x="201834" y="15859"/>
                  </a:lnTo>
                  <a:lnTo>
                    <a:pt x="247014" y="46316"/>
                  </a:lnTo>
                  <a:lnTo>
                    <a:pt x="277399" y="91378"/>
                  </a:lnTo>
                  <a:lnTo>
                    <a:pt x="288543" y="146545"/>
                  </a:lnTo>
                  <a:lnTo>
                    <a:pt x="285662" y="175199"/>
                  </a:lnTo>
                  <a:lnTo>
                    <a:pt x="264326" y="225978"/>
                  </a:lnTo>
                  <a:lnTo>
                    <a:pt x="225960" y="264318"/>
                  </a:lnTo>
                  <a:lnTo>
                    <a:pt x="175184" y="285695"/>
                  </a:lnTo>
                  <a:lnTo>
                    <a:pt x="146557" y="288594"/>
                  </a:lnTo>
                  <a:lnTo>
                    <a:pt x="176114" y="288594"/>
                  </a:lnTo>
                  <a:lnTo>
                    <a:pt x="233094" y="265052"/>
                  </a:lnTo>
                  <a:lnTo>
                    <a:pt x="264826" y="233274"/>
                  </a:lnTo>
                  <a:lnTo>
                    <a:pt x="285640" y="192968"/>
                  </a:lnTo>
                  <a:lnTo>
                    <a:pt x="293115" y="146545"/>
                  </a:lnTo>
                  <a:lnTo>
                    <a:pt x="285640" y="100258"/>
                  </a:lnTo>
                  <a:lnTo>
                    <a:pt x="264826" y="60034"/>
                  </a:lnTo>
                  <a:lnTo>
                    <a:pt x="233094" y="28299"/>
                  </a:lnTo>
                  <a:lnTo>
                    <a:pt x="192865" y="7479"/>
                  </a:lnTo>
                  <a:lnTo>
                    <a:pt x="176123" y="4775"/>
                  </a:lnTo>
                  <a:close/>
                </a:path>
              </a:pathLst>
            </a:custGeom>
            <a:solidFill>
              <a:srgbClr val="3C3C3C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pic>
          <p:nvPicPr>
            <p:cNvPr id="10" name="object 10"/>
            <p:cNvPicPr/>
            <p:nvPr/>
          </p:nvPicPr>
          <p:blipFill rotWithShape="1">
            <a:blip r:embed="rId6"/>
            <a:stretch/>
          </p:blipFill>
          <p:spPr bwMode="auto">
            <a:xfrm>
              <a:off x="3908171" y="4700676"/>
              <a:ext cx="220090" cy="220382"/>
            </a:xfrm>
            <a:prstGeom prst="rect">
              <a:avLst/>
            </a:prstGeom>
          </p:spPr>
        </p:pic>
      </p:grpSp>
      <p:grpSp>
        <p:nvGrpSpPr>
          <p:cNvPr id="572565284" name="object 13"/>
          <p:cNvGrpSpPr/>
          <p:nvPr/>
        </p:nvGrpSpPr>
        <p:grpSpPr bwMode="auto">
          <a:xfrm>
            <a:off x="6204123" y="4476381"/>
            <a:ext cx="1478915" cy="569595"/>
            <a:chOff x="6204123" y="4476381"/>
            <a:chExt cx="1478915" cy="569595"/>
          </a:xfrm>
        </p:grpSpPr>
        <p:pic>
          <p:nvPicPr>
            <p:cNvPr id="14" name="object 14"/>
            <p:cNvPicPr/>
            <p:nvPr/>
          </p:nvPicPr>
          <p:blipFill rotWithShape="1">
            <a:blip r:embed="rId7"/>
            <a:stretch/>
          </p:blipFill>
          <p:spPr bwMode="auto">
            <a:xfrm>
              <a:off x="6204123" y="4476381"/>
              <a:ext cx="566450" cy="56935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 rotWithShape="1">
            <a:blip r:embed="rId8"/>
            <a:stretch/>
          </p:blipFill>
          <p:spPr bwMode="auto">
            <a:xfrm>
              <a:off x="6764908" y="4514136"/>
              <a:ext cx="917575" cy="516140"/>
            </a:xfrm>
            <a:prstGeom prst="rect">
              <a:avLst/>
            </a:prstGeom>
          </p:spPr>
        </p:pic>
      </p:grpSp>
      <p:pic>
        <p:nvPicPr>
          <p:cNvPr id="1985299951" name="object 12"/>
          <p:cNvPicPr/>
          <p:nvPr/>
        </p:nvPicPr>
        <p:blipFill rotWithShape="1">
          <a:blip r:embed="rId9"/>
          <a:stretch/>
        </p:blipFill>
        <p:spPr bwMode="auto">
          <a:xfrm>
            <a:off x="7846821" y="4478744"/>
            <a:ext cx="836587" cy="311797"/>
          </a:xfrm>
          <a:prstGeom prst="rect">
            <a:avLst/>
          </a:prstGeom>
        </p:spPr>
      </p:pic>
      <p:sp>
        <p:nvSpPr>
          <p:cNvPr id="1745936527" name="object 16"/>
          <p:cNvSpPr txBox="1"/>
          <p:nvPr/>
        </p:nvSpPr>
        <p:spPr bwMode="auto">
          <a:xfrm>
            <a:off x="7615173" y="4812588"/>
            <a:ext cx="126936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7804">
              <a:lnSpc>
                <a:spcPct val="100000"/>
              </a:lnSpc>
              <a:spcBef>
                <a:spcPts val="95"/>
              </a:spcBef>
              <a:defRPr/>
            </a:pPr>
            <a:r>
              <a:rPr sz="700" spc="-95">
                <a:solidFill>
                  <a:srgbClr val="484848"/>
                </a:solidFill>
                <a:latin typeface="Century Gothic"/>
                <a:cs typeface="Century Gothic"/>
              </a:rPr>
              <a:t>Hardware</a:t>
            </a:r>
            <a:r>
              <a:rPr sz="700" spc="-1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700" spc="-60">
                <a:solidFill>
                  <a:srgbClr val="484848"/>
                </a:solidFill>
                <a:latin typeface="Century Gothic"/>
                <a:cs typeface="Century Gothic"/>
              </a:rPr>
              <a:t>Assisted</a:t>
            </a:r>
            <a:r>
              <a:rPr sz="70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700" spc="-25">
                <a:solidFill>
                  <a:srgbClr val="484848"/>
                </a:solidFill>
                <a:latin typeface="Century Gothic"/>
                <a:cs typeface="Century Gothic"/>
              </a:rPr>
              <a:t>and</a:t>
            </a:r>
            <a:r>
              <a:rPr sz="700" spc="50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700" spc="-85">
                <a:solidFill>
                  <a:srgbClr val="484848"/>
                </a:solidFill>
                <a:latin typeface="Century Gothic"/>
                <a:cs typeface="Century Gothic"/>
              </a:rPr>
              <a:t>Blockchain</a:t>
            </a:r>
            <a:r>
              <a:rPr sz="700" spc="-5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700" spc="-120">
                <a:solidFill>
                  <a:srgbClr val="484848"/>
                </a:solidFill>
                <a:latin typeface="Century Gothic"/>
                <a:cs typeface="Century Gothic"/>
              </a:rPr>
              <a:t>Empowered</a:t>
            </a:r>
            <a:r>
              <a:rPr sz="700" spc="30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700" spc="-55">
                <a:solidFill>
                  <a:srgbClr val="484848"/>
                </a:solidFill>
                <a:latin typeface="Century Gothic"/>
                <a:cs typeface="Century Gothic"/>
              </a:rPr>
              <a:t>Security</a:t>
            </a:r>
            <a:r>
              <a:rPr sz="700" spc="25">
                <a:solidFill>
                  <a:srgbClr val="484848"/>
                </a:solidFill>
                <a:latin typeface="Century Gothic"/>
                <a:cs typeface="Century Gothic"/>
              </a:rPr>
              <a:t> </a:t>
            </a:r>
            <a:r>
              <a:rPr sz="700" spc="-110">
                <a:solidFill>
                  <a:srgbClr val="484848"/>
                </a:solidFill>
                <a:latin typeface="Century Gothic"/>
                <a:cs typeface="Century Gothic"/>
              </a:rPr>
              <a:t>Lab</a:t>
            </a:r>
            <a:endParaRPr sz="700">
              <a:latin typeface="Century Gothic"/>
              <a:cs typeface="Century Gothic"/>
            </a:endParaRPr>
          </a:p>
        </p:txBody>
      </p:sp>
      <p:sp>
        <p:nvSpPr>
          <p:cNvPr id="1776179631" name="Rettangolo 16"/>
          <p:cNvSpPr txBox="1"/>
          <p:nvPr/>
        </p:nvSpPr>
        <p:spPr bwMode="auto">
          <a:xfrm rot="0" flipH="0" flipV="0">
            <a:off x="498316" y="2215743"/>
            <a:ext cx="4128807" cy="4880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it-IT" sz="2600">
                <a:latin typeface="Libre Baskerville"/>
                <a:ea typeface="Libre Baskerville"/>
                <a:cs typeface="Libre Baskerville"/>
              </a:rPr>
              <a:t>Grazie per l’attenzione!</a:t>
            </a:r>
            <a:endParaRPr sz="2600">
              <a:latin typeface="Libre Baskerville"/>
              <a:cs typeface="Libre Baskervill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84848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84848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84848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ONLYOFFICE/10.0.0.169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Francesco Aurilio</dc:creator>
  <cp:lastModifiedBy/>
  <cp:revision>5</cp:revision>
  <dcterms:created xsi:type="dcterms:W3CDTF">2026-10-28T15:48:24Z</dcterms:created>
  <dcterms:modified xsi:type="dcterms:W3CDTF">2026-10-31T14:12:46Z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2025-06-20T00:00:00Z</vt:filetime>
  </property>
  <property fmtid="{D5CDD505-2E9C-101B-9397-08002B2CF9AE}" pid="4" name="Creator">
    <vt:lpwstr>Microsoft® PowerPoint® per Microsoft 365</vt:lpwstr>
  </property>
  <property fmtid="{D5CDD505-2E9C-101B-9397-08002B2CF9AE}" pid="5" name="LastSaved">
    <vt:filetime>2026-10-28T00:00:00Z</vt:filetime>
  </property>
  <property fmtid="{D5CDD505-2E9C-101B-9397-08002B2CF9AE}" pid="6" name="Producer">
    <vt:lpwstr>Microsoft® PowerPoint® per Microsoft 365</vt:lpwstr>
  </property>
</Properties>
</file>